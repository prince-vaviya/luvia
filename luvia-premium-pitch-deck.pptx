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2"/>
    <p:sldId id="258" r:id="rId3"/>
    <p:sldId id="261" r:id="rId4"/>
    <p:sldId id="273" r:id="rId5"/>
    <p:sldId id="262" r:id="rId6"/>
    <p:sldId id="263" r:id="rId7"/>
    <p:sldId id="278" r:id="rId8"/>
    <p:sldId id="272" r:id="rId9"/>
    <p:sldId id="267" r:id="rId10"/>
    <p:sldId id="268" r:id="rId11"/>
    <p:sldId id="269" r:id="rId12"/>
    <p:sldId id="270" r:id="rId13"/>
    <p:sldId id="271" r:id="rId14"/>
    <p:sldId id="274" r:id="rId15"/>
    <p:sldId id="275" r:id="rId16"/>
    <p:sldId id="276" r:id="rId17"/>
    <p:sldId id="277" r:id="rId18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07962"/>
    <a:srgbClr val="CFDCCC"/>
    <a:srgbClr val="A4B59A"/>
    <a:srgbClr val="8FA789"/>
    <a:srgbClr val="F8F5EE"/>
    <a:srgbClr val="273531"/>
    <a:srgbClr val="607862"/>
    <a:srgbClr val="8FA689"/>
    <a:srgbClr val="2F4039"/>
    <a:srgbClr val="C3DD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8EE966-57DA-8460-5052-7BC46EAE145B}" v="2394" dt="2026-06-16T18:35:02.2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D6F6DB-7E88-724F-12A8-D266C1952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6D4297-32B2-1CF1-FE5F-7B750B8083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A74D5B-9B37-3E1B-DBC0-FFD4C42EF1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50ACD3-11CC-F9E6-D414-5D7FFE392133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211237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svg"/><Relationship Id="rId7" Type="http://schemas.openxmlformats.org/officeDocument/2006/relationships/image" Target="../media/image17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sv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7" Type="http://schemas.openxmlformats.org/officeDocument/2006/relationships/image" Target="../media/image25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svg"/><Relationship Id="rId5" Type="http://schemas.openxmlformats.org/officeDocument/2006/relationships/image" Target="../media/image24.svg"/><Relationship Id="rId4" Type="http://schemas.openxmlformats.org/officeDocument/2006/relationships/image" Target="../media/image23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.unicef.org/how-many/how-many-babies-are-born-in-india-each-year/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hyperlink" Target="https://docs.google.com/spreadsheets/d/1WEz55r4yiD-sjEVttOOIPNPce-KAschjzXOV8aIbeF0/edit?usp=sharing" TargetMode="External"/><Relationship Id="rId7" Type="http://schemas.openxmlformats.org/officeDocument/2006/relationships/image" Target="../media/image28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svg"/><Relationship Id="rId5" Type="http://schemas.openxmlformats.org/officeDocument/2006/relationships/image" Target="../media/image25.svg"/><Relationship Id="rId4" Type="http://schemas.openxmlformats.org/officeDocument/2006/relationships/image" Target="../media/image27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3" Type="http://schemas.openxmlformats.org/officeDocument/2006/relationships/image" Target="../media/image30.svg"/><Relationship Id="rId7" Type="http://schemas.openxmlformats.org/officeDocument/2006/relationships/image" Target="../media/image34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svg"/><Relationship Id="rId5" Type="http://schemas.openxmlformats.org/officeDocument/2006/relationships/image" Target="../media/image32.svg"/><Relationship Id="rId4" Type="http://schemas.openxmlformats.org/officeDocument/2006/relationships/image" Target="../media/image31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svg"/><Relationship Id="rId5" Type="http://schemas.openxmlformats.org/officeDocument/2006/relationships/image" Target="../media/image38.svg"/><Relationship Id="rId4" Type="http://schemas.openxmlformats.org/officeDocument/2006/relationships/image" Target="../media/image37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svg"/><Relationship Id="rId7" Type="http://schemas.openxmlformats.org/officeDocument/2006/relationships/image" Target="../media/image43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svg"/><Relationship Id="rId5" Type="http://schemas.openxmlformats.org/officeDocument/2006/relationships/image" Target="../media/image41.svg"/><Relationship Id="rId4" Type="http://schemas.openxmlformats.org/officeDocument/2006/relationships/image" Target="../media/image40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7" Type="http://schemas.openxmlformats.org/officeDocument/2006/relationships/image" Target="../media/image48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svg"/><Relationship Id="rId5" Type="http://schemas.openxmlformats.org/officeDocument/2006/relationships/image" Target="../media/image46.svg"/><Relationship Id="rId4" Type="http://schemas.openxmlformats.org/officeDocument/2006/relationships/image" Target="../media/image45.sv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651991A-58D3-42A9-BB7A-D98AFADB635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CF67DB1-0B2E-462E-AB77-75E06D6CEE4F}"/>
              </a:ext>
            </a:extLst>
          </p:cNvPr>
          <p:cNvSpPr>
            <a:spLocks noGrp="1"/>
          </p:cNvSpPr>
          <p:nvPr/>
        </p:nvSpPr>
        <p:spPr>
          <a:xfrm>
            <a:off x="1121465" y="1274693"/>
            <a:ext cx="32385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550" b="1">
                <a:solidFill>
                  <a:srgbClr val="24322D"/>
                </a:solidFill>
                <a:latin typeface="Aptos Display"/>
                <a:ea typeface="Aptos Display"/>
                <a:cs typeface="Aptos Display"/>
              </a:defRPr>
            </a:pPr>
            <a:r>
              <a:rPr sz="5550" b="1">
                <a:solidFill>
                  <a:srgbClr val="24322D"/>
                </a:solidFill>
                <a:latin typeface="Aptos Display"/>
                <a:ea typeface="Aptos Display"/>
                <a:cs typeface="Aptos Display"/>
              </a:rPr>
              <a:t>Luvia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6FF094D-CD49-4692-823D-12FDBF53BBAF}"/>
              </a:ext>
            </a:extLst>
          </p:cNvPr>
          <p:cNvSpPr>
            <a:spLocks noGrp="1"/>
          </p:cNvSpPr>
          <p:nvPr/>
        </p:nvSpPr>
        <p:spPr>
          <a:xfrm>
            <a:off x="1119809" y="2095500"/>
            <a:ext cx="723900" cy="19050"/>
          </a:xfrm>
          <a:prstGeom prst="rect">
            <a:avLst/>
          </a:prstGeom>
          <a:solidFill>
            <a:srgbClr val="60786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AD691BA-0BD6-49BA-9890-605BEBBCC0DB}"/>
              </a:ext>
            </a:extLst>
          </p:cNvPr>
          <p:cNvSpPr>
            <a:spLocks noGrp="1"/>
          </p:cNvSpPr>
          <p:nvPr/>
        </p:nvSpPr>
        <p:spPr>
          <a:xfrm>
            <a:off x="1120637" y="2320787"/>
            <a:ext cx="4953000" cy="1104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0">
                <a:solidFill>
                  <a:srgbClr val="52635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0">
                <a:solidFill>
                  <a:srgbClr val="52635A"/>
                </a:solidFill>
                <a:latin typeface="Aptos Display"/>
                <a:ea typeface="Aptos Display"/>
                <a:cs typeface="Aptos Display"/>
              </a:rPr>
              <a:t>Comfort you trust.</a:t>
            </a:r>
          </a:p>
          <a:p>
            <a:pPr algn="l">
              <a:defRPr sz="2550" b="0">
                <a:solidFill>
                  <a:srgbClr val="52635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0">
                <a:solidFill>
                  <a:srgbClr val="52635A"/>
                </a:solidFill>
                <a:latin typeface="Aptos Display"/>
                <a:ea typeface="Aptos Display"/>
                <a:cs typeface="Aptos Display"/>
              </a:rPr>
              <a:t>Care they deserve</a:t>
            </a:r>
            <a:r>
              <a:rPr lang="en-US" sz="2550">
                <a:solidFill>
                  <a:srgbClr val="52635A"/>
                </a:solidFill>
                <a:latin typeface="Aptos Display"/>
                <a:ea typeface="Aptos Display"/>
                <a:cs typeface="Aptos Display"/>
              </a:rPr>
              <a:t>.</a:t>
            </a:r>
            <a:endParaRPr sz="2550" b="0">
              <a:solidFill>
                <a:srgbClr val="52635A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4D1DBD4-E9C8-480C-9D71-D596053084C3}"/>
              </a:ext>
            </a:extLst>
          </p:cNvPr>
          <p:cNvSpPr>
            <a:spLocks noGrp="1"/>
          </p:cNvSpPr>
          <p:nvPr/>
        </p:nvSpPr>
        <p:spPr>
          <a:xfrm>
            <a:off x="762000" y="4191000"/>
            <a:ext cx="43815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2635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35A"/>
                </a:solidFill>
                <a:latin typeface="Aptos"/>
                <a:ea typeface="Aptos"/>
                <a:cs typeface="Aptos"/>
              </a:rPr>
              <a:t>A premium baby-care company designing healthier micro-environments for hot, humid life.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824A628-052A-4673-B765-AB186EBA30EE}"/>
              </a:ext>
            </a:extLst>
          </p:cNvPr>
          <p:cNvSpPr>
            <a:spLocks noGrp="1"/>
          </p:cNvSpPr>
          <p:nvPr/>
        </p:nvSpPr>
        <p:spPr>
          <a:xfrm>
            <a:off x="11239500" y="6419850"/>
            <a:ext cx="304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60786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07862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1070777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D956371D-FFEF-4580-9389-90FF5597FC3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4322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3-marker">
            <a:extLst>
              <a:ext uri="{FF2B5EF4-FFF2-40B4-BE49-F238E27FC236}">
                <a16:creationId xmlns:a16="http://schemas.microsoft.com/office/drawing/2014/main" id="{1E35ECF4-AF83-4937-B5FF-9AFF03F2929C}"/>
              </a:ext>
            </a:extLst>
          </p:cNvPr>
          <p:cNvSpPr>
            <a:spLocks noGrp="1"/>
          </p:cNvSpPr>
          <p:nvPr/>
        </p:nvSpPr>
        <p:spPr>
          <a:xfrm>
            <a:off x="666750" y="533400"/>
            <a:ext cx="209550" cy="19050"/>
          </a:xfrm>
          <a:prstGeom prst="rect">
            <a:avLst/>
          </a:prstGeom>
          <a:solidFill>
            <a:srgbClr val="DDE8D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3-label">
            <a:extLst>
              <a:ext uri="{FF2B5EF4-FFF2-40B4-BE49-F238E27FC236}">
                <a16:creationId xmlns:a16="http://schemas.microsoft.com/office/drawing/2014/main" id="{408C92EB-627E-4FEE-A8BF-223D0A4B7516}"/>
              </a:ext>
            </a:extLst>
          </p:cNvPr>
          <p:cNvSpPr>
            <a:spLocks noGrp="1"/>
          </p:cNvSpPr>
          <p:nvPr/>
        </p:nvSpPr>
        <p:spPr>
          <a:xfrm>
            <a:off x="990600" y="457200"/>
            <a:ext cx="2476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750" b="1">
                <a:solidFill>
                  <a:srgbClr val="DDE8D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DE8DB"/>
                </a:solidFill>
                <a:latin typeface="Aptos"/>
                <a:ea typeface="Aptos"/>
                <a:cs typeface="Aptos"/>
              </a:rPr>
              <a:t>HUMAN STORY</a:t>
            </a:r>
            <a:endParaRPr lang="en-US">
              <a:solidFill>
                <a:srgbClr val="DDE8DB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C4218B0-4C38-4C98-9745-654BB40DB64A}"/>
              </a:ext>
            </a:extLst>
          </p:cNvPr>
          <p:cNvSpPr>
            <a:spLocks noGrp="1"/>
          </p:cNvSpPr>
          <p:nvPr/>
        </p:nvSpPr>
        <p:spPr>
          <a:xfrm>
            <a:off x="666750" y="876300"/>
            <a:ext cx="6905625" cy="1123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 dry diaper can still leave a baby uncomfortable.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2B5EF40-634B-40B9-AD8C-839264713BD7}"/>
              </a:ext>
            </a:extLst>
          </p:cNvPr>
          <p:cNvSpPr>
            <a:spLocks noGrp="1"/>
          </p:cNvSpPr>
          <p:nvPr/>
        </p:nvSpPr>
        <p:spPr>
          <a:xfrm>
            <a:off x="685800" y="2038350"/>
            <a:ext cx="581025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DDE8DB"/>
                </a:solidFill>
                <a:latin typeface="Aptos"/>
                <a:ea typeface="Aptos"/>
                <a:cs typeface="Aptos"/>
              </a:defRPr>
            </a:pPr>
            <a:r>
              <a:rPr sz="1500" b="0" dirty="0">
                <a:solidFill>
                  <a:srgbClr val="DDE8DB"/>
                </a:solidFill>
                <a:latin typeface="Aptos"/>
                <a:ea typeface="Aptos"/>
                <a:cs typeface="Aptos"/>
              </a:rPr>
              <a:t>At </a:t>
            </a:r>
            <a:r>
              <a:rPr lang="en-US" sz="1500">
                <a:solidFill>
                  <a:srgbClr val="DDE8DB"/>
                </a:solidFill>
                <a:latin typeface="Aptos"/>
                <a:ea typeface="Aptos"/>
                <a:cs typeface="Aptos"/>
              </a:rPr>
              <a:t>2:30</a:t>
            </a:r>
            <a:r>
              <a:rPr sz="1500" b="0" dirty="0">
                <a:solidFill>
                  <a:srgbClr val="DDE8DB"/>
                </a:solidFill>
                <a:latin typeface="Aptos"/>
                <a:ea typeface="Aptos"/>
                <a:cs typeface="Aptos"/>
              </a:rPr>
              <a:t> a.m., the parent is not optimizing absorbency. They are trying to restore comfort.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90933D2-F17F-44F7-8923-19173125F10D}"/>
              </a:ext>
            </a:extLst>
          </p:cNvPr>
          <p:cNvSpPr>
            <a:spLocks noGrp="1"/>
          </p:cNvSpPr>
          <p:nvPr/>
        </p:nvSpPr>
        <p:spPr>
          <a:xfrm>
            <a:off x="7239000" y="1314450"/>
            <a:ext cx="3429000" cy="3810000"/>
          </a:xfrm>
          <a:prstGeom prst="rect">
            <a:avLst/>
          </a:prstGeom>
          <a:solidFill>
            <a:srgbClr val="2F4039"/>
          </a:solidFill>
          <a:ln w="9525">
            <a:solidFill>
              <a:srgbClr val="43584F"/>
            </a:solidFill>
            <a:prstDash val="solid"/>
          </a:ln>
        </p:spPr>
      </p:sp>
      <p:pic>
        <p:nvPicPr>
          <p:cNvPr id="7" name="Graphic 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7848600" y="1809750"/>
            <a:ext cx="666750" cy="666750"/>
          </a:xfrm>
          <a:prstGeom prst="rect">
            <a:avLst/>
          </a:prstGeom>
        </p:spPr>
      </p:pic>
      <p:pic>
        <p:nvPicPr>
          <p:cNvPr id="8" name="Graphic 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 rot="3720000">
            <a:off x="9467850" y="1809750"/>
            <a:ext cx="552450" cy="55245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4986D2A-26E8-4BD2-9358-418B902E8813}"/>
              </a:ext>
            </a:extLst>
          </p:cNvPr>
          <p:cNvSpPr>
            <a:spLocks noGrp="1"/>
          </p:cNvSpPr>
          <p:nvPr/>
        </p:nvSpPr>
        <p:spPr>
          <a:xfrm>
            <a:off x="7905750" y="3543300"/>
            <a:ext cx="2095500" cy="19050"/>
          </a:xfrm>
          <a:prstGeom prst="rect">
            <a:avLst/>
          </a:prstGeom>
          <a:solidFill>
            <a:srgbClr val="8FA78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61231E-57FD-432F-A1BA-1B7ACE897903}"/>
              </a:ext>
            </a:extLst>
          </p:cNvPr>
          <p:cNvSpPr>
            <a:spLocks noGrp="1"/>
          </p:cNvSpPr>
          <p:nvPr/>
        </p:nvSpPr>
        <p:spPr>
          <a:xfrm>
            <a:off x="8039100" y="3219450"/>
            <a:ext cx="18288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19050">
            <a:solidFill>
              <a:srgbClr val="8FA789"/>
            </a:solidFill>
            <a:prstDash val="solid"/>
          </a:ln>
        </p:spPr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B3802BB-677B-4317-84B6-3DAFB5FAC8EC}"/>
              </a:ext>
            </a:extLst>
          </p:cNvPr>
          <p:cNvSpPr>
            <a:spLocks noGrp="1"/>
          </p:cNvSpPr>
          <p:nvPr/>
        </p:nvSpPr>
        <p:spPr>
          <a:xfrm>
            <a:off x="8591550" y="2819400"/>
            <a:ext cx="762000" cy="49530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8FA789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C74D98-2D78-4EF5-A49C-0BFE962DD715}"/>
              </a:ext>
            </a:extLst>
          </p:cNvPr>
          <p:cNvSpPr>
            <a:spLocks noGrp="1"/>
          </p:cNvSpPr>
          <p:nvPr/>
        </p:nvSpPr>
        <p:spPr>
          <a:xfrm>
            <a:off x="7677150" y="4305300"/>
            <a:ext cx="2571750" cy="933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DDE8DB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DDE8DB"/>
                </a:solidFill>
                <a:latin typeface="Aptos Display"/>
                <a:ea typeface="Aptos Display"/>
                <a:cs typeface="Aptos Display"/>
              </a:rPr>
              <a:t>The diaper is dry.</a:t>
            </a:r>
          </a:p>
          <a:p>
            <a:pPr algn="ctr">
              <a:defRPr sz="1500" b="1">
                <a:solidFill>
                  <a:srgbClr val="DDE8DB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DDE8DB"/>
                </a:solidFill>
                <a:latin typeface="Aptos Display"/>
                <a:ea typeface="Aptos Display"/>
                <a:cs typeface="Aptos Display"/>
              </a:rPr>
              <a:t>The room is quiet.</a:t>
            </a:r>
          </a:p>
          <a:p>
            <a:pPr algn="ctr">
              <a:defRPr sz="1500" b="1">
                <a:solidFill>
                  <a:srgbClr val="DDE8DB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DDE8DB"/>
                </a:solidFill>
                <a:latin typeface="Aptos Display"/>
                <a:ea typeface="Aptos Display"/>
                <a:cs typeface="Aptos Display"/>
              </a:rPr>
              <a:t>The baby is still unsettled.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12682FC-97AB-42C0-9E38-564F47D3FBDA}"/>
              </a:ext>
            </a:extLst>
          </p:cNvPr>
          <p:cNvSpPr>
            <a:spLocks noGrp="1"/>
          </p:cNvSpPr>
          <p:nvPr/>
        </p:nvSpPr>
        <p:spPr>
          <a:xfrm>
            <a:off x="723900" y="4953000"/>
            <a:ext cx="56197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E9DDCA"/>
                </a:solidFill>
                <a:latin typeface="Aptos Display"/>
                <a:ea typeface="Aptos Display"/>
                <a:cs typeface="Aptos Display"/>
              </a:defRPr>
            </a:pPr>
            <a:endParaRPr lang="en-US" sz="1800" b="0" dirty="0">
              <a:solidFill>
                <a:srgbClr val="E9DDCA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8ADABAA-C293-4B67-9E32-662FC25764DF}"/>
              </a:ext>
            </a:extLst>
          </p:cNvPr>
          <p:cNvSpPr>
            <a:spLocks noGrp="1"/>
          </p:cNvSpPr>
          <p:nvPr/>
        </p:nvSpPr>
        <p:spPr>
          <a:xfrm>
            <a:off x="666750" y="6000750"/>
            <a:ext cx="1143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Luvia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EB5D19F-80F9-43B2-A6AE-DBE3335C51F3}"/>
              </a:ext>
            </a:extLst>
          </p:cNvPr>
          <p:cNvSpPr>
            <a:spLocks noGrp="1"/>
          </p:cNvSpPr>
          <p:nvPr/>
        </p:nvSpPr>
        <p:spPr>
          <a:xfrm>
            <a:off x="11239500" y="6419850"/>
            <a:ext cx="304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60786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07862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8951463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F36F46A3-9D65-46A7-ADA1-BBE63BEDBE4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6-marker">
            <a:extLst>
              <a:ext uri="{FF2B5EF4-FFF2-40B4-BE49-F238E27FC236}">
                <a16:creationId xmlns:a16="http://schemas.microsoft.com/office/drawing/2014/main" id="{3E38C2C8-49AA-4FE3-902C-CA1FD8F5AF14}"/>
              </a:ext>
            </a:extLst>
          </p:cNvPr>
          <p:cNvSpPr>
            <a:spLocks noGrp="1"/>
          </p:cNvSpPr>
          <p:nvPr/>
        </p:nvSpPr>
        <p:spPr>
          <a:xfrm>
            <a:off x="666750" y="533400"/>
            <a:ext cx="209550" cy="19050"/>
          </a:xfrm>
          <a:prstGeom prst="rect">
            <a:avLst/>
          </a:prstGeom>
          <a:solidFill>
            <a:srgbClr val="60786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6-label">
            <a:extLst>
              <a:ext uri="{FF2B5EF4-FFF2-40B4-BE49-F238E27FC236}">
                <a16:creationId xmlns:a16="http://schemas.microsoft.com/office/drawing/2014/main" id="{2ED226AD-EF55-42D7-B340-065DED2C0635}"/>
              </a:ext>
            </a:extLst>
          </p:cNvPr>
          <p:cNvSpPr>
            <a:spLocks noGrp="1"/>
          </p:cNvSpPr>
          <p:nvPr/>
        </p:nvSpPr>
        <p:spPr>
          <a:xfrm>
            <a:off x="990600" y="457200"/>
            <a:ext cx="2476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750" b="1">
                <a:solidFill>
                  <a:srgbClr val="607862"/>
                </a:solidFill>
                <a:latin typeface="Aptos"/>
                <a:ea typeface="Aptos"/>
                <a:cs typeface="Aptos"/>
              </a:defRPr>
            </a:pPr>
            <a:r>
              <a:rPr lang="en-US" sz="750" b="1">
                <a:solidFill>
                  <a:srgbClr val="607862"/>
                </a:solidFill>
                <a:latin typeface="Aptos"/>
              </a:rPr>
              <a:t>PROBLEM</a:t>
            </a:r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62BB523-7BA0-44A2-82C3-1411D12A1134}"/>
              </a:ext>
            </a:extLst>
          </p:cNvPr>
          <p:cNvSpPr>
            <a:spLocks noGrp="1"/>
          </p:cNvSpPr>
          <p:nvPr/>
        </p:nvSpPr>
        <p:spPr>
          <a:xfrm>
            <a:off x="666750" y="876300"/>
            <a:ext cx="83820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3150" b="1">
                <a:solidFill>
                  <a:srgbClr val="24322D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US" sz="3150">
                <a:solidFill>
                  <a:srgbClr val="24322D"/>
                </a:solidFill>
                <a:ea typeface="+mn-lt"/>
                <a:cs typeface="+mn-lt"/>
              </a:rPr>
              <a:t>Heat + Moisture + Friction create discomfort.</a:t>
            </a: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D529109-82EA-49DE-AE33-1825025A9FDE}"/>
              </a:ext>
            </a:extLst>
          </p:cNvPr>
          <p:cNvSpPr>
            <a:spLocks noGrp="1"/>
          </p:cNvSpPr>
          <p:nvPr/>
        </p:nvSpPr>
        <p:spPr>
          <a:xfrm>
            <a:off x="663166" y="1713557"/>
            <a:ext cx="64770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52635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2635A"/>
                </a:solidFill>
                <a:latin typeface="Aptos"/>
                <a:ea typeface="Aptos"/>
                <a:cs typeface="Aptos"/>
              </a:rPr>
              <a:t>The problem is not lack of absorption. It is the environment that forms after hours of wear.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95B8C1A-AF8B-466B-AC18-B9D23F26C7FC}"/>
              </a:ext>
            </a:extLst>
          </p:cNvPr>
          <p:cNvSpPr>
            <a:spLocks noGrp="1"/>
          </p:cNvSpPr>
          <p:nvPr/>
        </p:nvSpPr>
        <p:spPr>
          <a:xfrm>
            <a:off x="1075429" y="2526649"/>
            <a:ext cx="2095500" cy="1123950"/>
          </a:xfrm>
          <a:prstGeom prst="rect">
            <a:avLst/>
          </a:prstGeom>
          <a:solidFill>
            <a:srgbClr val="FFFFFF"/>
          </a:solidFill>
          <a:ln w="14288">
            <a:solidFill>
              <a:srgbClr val="B9826A"/>
            </a:solidFill>
            <a:prstDash val="solid"/>
          </a:ln>
        </p:spPr>
      </p:sp>
      <p:pic>
        <p:nvPicPr>
          <p:cNvPr id="7" name="Graphic 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342129" y="2888599"/>
            <a:ext cx="400050" cy="40005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818C9D5-8B7B-4EC9-BB58-93A0472BCCA0}"/>
              </a:ext>
            </a:extLst>
          </p:cNvPr>
          <p:cNvSpPr>
            <a:spLocks noGrp="1"/>
          </p:cNvSpPr>
          <p:nvPr/>
        </p:nvSpPr>
        <p:spPr>
          <a:xfrm>
            <a:off x="1894579" y="2793349"/>
            <a:ext cx="1047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24322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4322D"/>
                </a:solidFill>
                <a:latin typeface="Aptos"/>
                <a:ea typeface="Aptos"/>
                <a:cs typeface="Aptos"/>
              </a:rPr>
              <a:t>Heat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AE27F57-6EAD-4759-A42B-8B28FA07B66C}"/>
              </a:ext>
            </a:extLst>
          </p:cNvPr>
          <p:cNvSpPr>
            <a:spLocks noGrp="1"/>
          </p:cNvSpPr>
          <p:nvPr/>
        </p:nvSpPr>
        <p:spPr>
          <a:xfrm>
            <a:off x="3305282" y="2887596"/>
            <a:ext cx="4000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3000" b="0">
                <a:solidFill>
                  <a:srgbClr val="8FA789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0">
                <a:solidFill>
                  <a:srgbClr val="2F4039"/>
                </a:solidFill>
                <a:latin typeface="Aptos Display"/>
                <a:ea typeface="Aptos Display"/>
                <a:cs typeface="Aptos Display"/>
              </a:rPr>
              <a:t>+</a:t>
            </a:r>
            <a:endParaRPr lang="en-US" sz="3000" b="0">
              <a:solidFill>
                <a:srgbClr val="2F4039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7B9DB59-DAD9-41A5-8169-697ED323025F}"/>
              </a:ext>
            </a:extLst>
          </p:cNvPr>
          <p:cNvSpPr>
            <a:spLocks noGrp="1"/>
          </p:cNvSpPr>
          <p:nvPr/>
        </p:nvSpPr>
        <p:spPr>
          <a:xfrm>
            <a:off x="3799579" y="2526649"/>
            <a:ext cx="2095500" cy="1123950"/>
          </a:xfrm>
          <a:prstGeom prst="rect">
            <a:avLst/>
          </a:prstGeom>
          <a:solidFill>
            <a:srgbClr val="FFFFFF"/>
          </a:solidFill>
          <a:ln w="14288">
            <a:solidFill>
              <a:srgbClr val="4472C4"/>
            </a:solidFill>
            <a:prstDash val="solid"/>
          </a:ln>
        </p:spPr>
      </p:sp>
      <p:pic>
        <p:nvPicPr>
          <p:cNvPr id="11" name="Graphic 1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4066279" y="2888599"/>
            <a:ext cx="400050" cy="40005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F64332A5-7DF3-453E-BB92-CFB119F50151}"/>
              </a:ext>
            </a:extLst>
          </p:cNvPr>
          <p:cNvSpPr>
            <a:spLocks noGrp="1"/>
          </p:cNvSpPr>
          <p:nvPr/>
        </p:nvSpPr>
        <p:spPr>
          <a:xfrm>
            <a:off x="4618729" y="2793349"/>
            <a:ext cx="1047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24322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4322D"/>
                </a:solidFill>
                <a:latin typeface="Aptos"/>
                <a:ea typeface="Aptos"/>
                <a:cs typeface="Aptos"/>
              </a:rPr>
              <a:t>Moisture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B2D9A49-DCE1-43A2-A088-B0B37E52F2BF}"/>
              </a:ext>
            </a:extLst>
          </p:cNvPr>
          <p:cNvSpPr>
            <a:spLocks noGrp="1"/>
          </p:cNvSpPr>
          <p:nvPr/>
        </p:nvSpPr>
        <p:spPr>
          <a:xfrm>
            <a:off x="5994340" y="2927702"/>
            <a:ext cx="4000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3000" b="0">
                <a:solidFill>
                  <a:srgbClr val="8FA789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US" sz="3000">
                <a:solidFill>
                  <a:srgbClr val="2F4039"/>
                </a:solidFill>
                <a:latin typeface="Aptos Display"/>
                <a:ea typeface="Aptos Display"/>
                <a:cs typeface="Aptos Display"/>
              </a:rPr>
              <a:t>+</a:t>
            </a:r>
            <a:endParaRPr lang="en-US" sz="3000">
              <a:solidFill>
                <a:srgbClr val="000000"/>
              </a:solidFill>
              <a:latin typeface="Aptos Display"/>
              <a:ea typeface="Aptos Display"/>
              <a:cs typeface="Aptos Display"/>
            </a:endParaRPr>
          </a:p>
          <a:p>
            <a:pPr algn="ctr">
              <a:defRPr sz="3000" b="0">
                <a:solidFill>
                  <a:srgbClr val="8FA789"/>
                </a:solidFill>
                <a:latin typeface="Aptos Display"/>
                <a:ea typeface="Aptos Display"/>
                <a:cs typeface="Aptos Display"/>
              </a:defRPr>
            </a:pPr>
            <a:endParaRPr lang="en-US" sz="3000" b="0" dirty="0">
              <a:solidFill>
                <a:srgbClr val="8FA789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5DD6A85-7522-47BB-9220-B7C76E062E2E}"/>
              </a:ext>
            </a:extLst>
          </p:cNvPr>
          <p:cNvSpPr>
            <a:spLocks noGrp="1"/>
          </p:cNvSpPr>
          <p:nvPr/>
        </p:nvSpPr>
        <p:spPr>
          <a:xfrm>
            <a:off x="6523729" y="2526649"/>
            <a:ext cx="2095500" cy="1123950"/>
          </a:xfrm>
          <a:prstGeom prst="rect">
            <a:avLst/>
          </a:prstGeom>
          <a:solidFill>
            <a:srgbClr val="FFFFFF"/>
          </a:solidFill>
          <a:ln w="14288">
            <a:solidFill>
              <a:srgbClr val="607862"/>
            </a:solidFill>
            <a:prstDash val="solid"/>
          </a:ln>
        </p:spPr>
      </p:sp>
      <p:pic>
        <p:nvPicPr>
          <p:cNvPr id="15" name="Graphic 1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6790429" y="2888599"/>
            <a:ext cx="400050" cy="40005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41D27B20-46C9-4240-8AB7-F35E92E471DF}"/>
              </a:ext>
            </a:extLst>
          </p:cNvPr>
          <p:cNvSpPr>
            <a:spLocks noGrp="1"/>
          </p:cNvSpPr>
          <p:nvPr/>
        </p:nvSpPr>
        <p:spPr>
          <a:xfrm>
            <a:off x="7342879" y="2793349"/>
            <a:ext cx="1047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24322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4322D"/>
                </a:solidFill>
                <a:latin typeface="Aptos"/>
                <a:ea typeface="Aptos"/>
                <a:cs typeface="Aptos"/>
              </a:rPr>
              <a:t>Friction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F59E2B3-805B-4CB9-9085-3A324D1B14C9}"/>
              </a:ext>
            </a:extLst>
          </p:cNvPr>
          <p:cNvSpPr>
            <a:spLocks noGrp="1"/>
          </p:cNvSpPr>
          <p:nvPr/>
        </p:nvSpPr>
        <p:spPr>
          <a:xfrm>
            <a:off x="8904979" y="3079099"/>
            <a:ext cx="419100" cy="19050"/>
          </a:xfrm>
          <a:prstGeom prst="rect">
            <a:avLst/>
          </a:prstGeom>
          <a:solidFill>
            <a:srgbClr val="8FA78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193DA73-237F-4A4B-B77B-B23E0CC45599}"/>
              </a:ext>
            </a:extLst>
          </p:cNvPr>
          <p:cNvSpPr>
            <a:spLocks noGrp="1"/>
          </p:cNvSpPr>
          <p:nvPr/>
        </p:nvSpPr>
        <p:spPr>
          <a:xfrm>
            <a:off x="9129118" y="2935530"/>
            <a:ext cx="352374" cy="36459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75" b="0">
                <a:solidFill>
                  <a:srgbClr val="8FA789"/>
                </a:solidFill>
                <a:latin typeface="Aptos"/>
                <a:ea typeface="Aptos"/>
                <a:cs typeface="Aptos"/>
              </a:defRPr>
            </a:pPr>
            <a:r>
              <a:rPr lang="en-US" sz="2000">
                <a:solidFill>
                  <a:srgbClr val="8FA789"/>
                </a:solidFill>
                <a:latin typeface="Aptos"/>
                <a:ea typeface="Aptos"/>
                <a:cs typeface="Aptos"/>
              </a:rPr>
              <a:t>&gt;</a:t>
            </a:r>
            <a:endParaRPr lang="en-US" sz="2000" b="0" dirty="0">
              <a:solidFill>
                <a:srgbClr val="8FA78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99B783F-8BD1-43BC-ACB2-036C688042A1}"/>
              </a:ext>
            </a:extLst>
          </p:cNvPr>
          <p:cNvSpPr>
            <a:spLocks noGrp="1"/>
          </p:cNvSpPr>
          <p:nvPr/>
        </p:nvSpPr>
        <p:spPr>
          <a:xfrm>
            <a:off x="9628879" y="2526649"/>
            <a:ext cx="1752600" cy="1123950"/>
          </a:xfrm>
          <a:prstGeom prst="rect">
            <a:avLst/>
          </a:prstGeom>
          <a:solidFill>
            <a:srgbClr val="24322D"/>
          </a:solidFill>
          <a:ln w="9525">
            <a:solidFill>
              <a:srgbClr val="24322D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AF2A34C-41CF-4B71-B870-1167FF06B8C8}"/>
              </a:ext>
            </a:extLst>
          </p:cNvPr>
          <p:cNvSpPr>
            <a:spLocks noGrp="1"/>
          </p:cNvSpPr>
          <p:nvPr/>
        </p:nvSpPr>
        <p:spPr>
          <a:xfrm>
            <a:off x="9819379" y="2907649"/>
            <a:ext cx="13716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Discomfort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3D6A62E-2363-4AF6-A485-495850F4BE78}"/>
              </a:ext>
            </a:extLst>
          </p:cNvPr>
          <p:cNvSpPr>
            <a:spLocks noGrp="1"/>
          </p:cNvSpPr>
          <p:nvPr/>
        </p:nvSpPr>
        <p:spPr>
          <a:xfrm>
            <a:off x="11239500" y="6419850"/>
            <a:ext cx="304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60786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07862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EA0830E-939F-54ED-3556-B17E99870740}"/>
              </a:ext>
            </a:extLst>
          </p:cNvPr>
          <p:cNvSpPr>
            <a:spLocks noGrp="1"/>
          </p:cNvSpPr>
          <p:nvPr/>
        </p:nvSpPr>
        <p:spPr>
          <a:xfrm>
            <a:off x="6167269" y="4244268"/>
            <a:ext cx="4686300" cy="2190750"/>
          </a:xfrm>
          <a:prstGeom prst="rect">
            <a:avLst/>
          </a:prstGeom>
          <a:solidFill>
            <a:srgbClr val="FFFFFF"/>
          </a:solidFill>
          <a:ln w="9525">
            <a:solidFill>
              <a:srgbClr val="273531"/>
            </a:solidFill>
            <a:prstDash val="solid"/>
          </a:ln>
        </p:spPr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8A057826-5787-7623-95E7-4AC13E92ADDF}"/>
              </a:ext>
            </a:extLst>
          </p:cNvPr>
          <p:cNvSpPr>
            <a:spLocks noGrp="1"/>
          </p:cNvSpPr>
          <p:nvPr/>
        </p:nvSpPr>
        <p:spPr>
          <a:xfrm>
            <a:off x="6510169" y="4549068"/>
            <a:ext cx="2476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1500" b="1">
                <a:solidFill>
                  <a:srgbClr val="24322D"/>
                </a:solidFill>
                <a:latin typeface="Aptos"/>
                <a:ea typeface="Aptos"/>
                <a:cs typeface="Aptos"/>
              </a:defRPr>
            </a:pPr>
            <a:r>
              <a:rPr lang="en-US"/>
              <a:t>Luvia wedge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1A8149A2-2C4F-8917-C91F-8A0BBFD6E8B1}"/>
              </a:ext>
            </a:extLst>
          </p:cNvPr>
          <p:cNvSpPr>
            <a:spLocks noGrp="1"/>
          </p:cNvSpPr>
          <p:nvPr/>
        </p:nvSpPr>
        <p:spPr>
          <a:xfrm>
            <a:off x="6510169" y="4968168"/>
            <a:ext cx="2476500" cy="933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1650" b="0">
                <a:solidFill>
                  <a:srgbClr val="52635A"/>
                </a:solidFill>
                <a:latin typeface="Aptos"/>
                <a:ea typeface="Aptos"/>
                <a:cs typeface="Aptos"/>
              </a:defRPr>
            </a:pPr>
            <a:r>
              <a:rPr lang="en-US"/>
              <a:t>Cooler wear</a:t>
            </a:r>
          </a:p>
          <a:p>
            <a:pPr>
              <a:defRPr sz="1650" b="0">
                <a:solidFill>
                  <a:srgbClr val="52635A"/>
                </a:solidFill>
                <a:latin typeface="Aptos"/>
                <a:ea typeface="Aptos"/>
                <a:cs typeface="Aptos"/>
              </a:defRPr>
            </a:pPr>
            <a:r>
              <a:rPr lang="en-US"/>
              <a:t>Softer contact</a:t>
            </a:r>
          </a:p>
          <a:p>
            <a:pPr>
              <a:defRPr sz="1650" b="0">
                <a:solidFill>
                  <a:srgbClr val="52635A"/>
                </a:solidFill>
                <a:latin typeface="Aptos"/>
                <a:ea typeface="Aptos"/>
                <a:cs typeface="Aptos"/>
              </a:defRPr>
            </a:pPr>
            <a:r>
              <a:rPr lang="en-US"/>
              <a:t>Less rubbing</a:t>
            </a:r>
          </a:p>
          <a:p>
            <a:pPr>
              <a:defRPr sz="1650" b="0">
                <a:solidFill>
                  <a:srgbClr val="52635A"/>
                </a:solidFill>
                <a:latin typeface="Aptos"/>
                <a:ea typeface="Aptos"/>
                <a:cs typeface="Aptos"/>
              </a:defRPr>
            </a:pPr>
            <a:r>
              <a:rPr lang="en-US"/>
              <a:t>Cleaner disposal</a:t>
            </a:r>
          </a:p>
          <a:p>
            <a:pPr algn="l">
              <a:defRPr sz="1650" b="0">
                <a:solidFill>
                  <a:srgbClr val="52635A"/>
                </a:solidFill>
                <a:latin typeface="Aptos"/>
                <a:ea typeface="Aptos"/>
                <a:cs typeface="Aptos"/>
              </a:defRPr>
            </a:pPr>
            <a:endParaRPr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4029E6D6-673E-3368-6B41-4B7967E016BF}"/>
              </a:ext>
            </a:extLst>
          </p:cNvPr>
          <p:cNvSpPr>
            <a:spLocks noGrp="1"/>
          </p:cNvSpPr>
          <p:nvPr/>
        </p:nvSpPr>
        <p:spPr>
          <a:xfrm>
            <a:off x="6510169" y="5996868"/>
            <a:ext cx="3333750" cy="9525"/>
          </a:xfrm>
          <a:prstGeom prst="rect">
            <a:avLst/>
          </a:prstGeom>
          <a:solidFill>
            <a:srgbClr val="CAD8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BB77CF1A-6836-87A5-2B33-68BA30502812}"/>
              </a:ext>
            </a:extLst>
          </p:cNvPr>
          <p:cNvSpPr>
            <a:spLocks noGrp="1"/>
          </p:cNvSpPr>
          <p:nvPr/>
        </p:nvSpPr>
        <p:spPr>
          <a:xfrm>
            <a:off x="6510169" y="6111168"/>
            <a:ext cx="2857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1125" b="1">
                <a:solidFill>
                  <a:srgbClr val="607862"/>
                </a:solidFill>
                <a:latin typeface="Aptos"/>
                <a:ea typeface="Aptos"/>
                <a:cs typeface="Aptos"/>
              </a:defRPr>
            </a:pPr>
            <a:r>
              <a:rPr lang="en-US"/>
              <a:t>Design for what happens around the skin.</a:t>
            </a:r>
          </a:p>
          <a:p>
            <a:pPr algn="l">
              <a:defRPr sz="1125" b="1">
                <a:solidFill>
                  <a:srgbClr val="607862"/>
                </a:solidFill>
                <a:latin typeface="Aptos"/>
                <a:ea typeface="Aptos"/>
                <a:cs typeface="Aptos"/>
              </a:defRPr>
            </a:pPr>
            <a:endParaRPr dirty="0"/>
          </a:p>
        </p:txBody>
      </p:sp>
      <p:sp>
        <p:nvSpPr>
          <p:cNvPr id="59" name="kicker-06-marker">
            <a:extLst>
              <a:ext uri="{FF2B5EF4-FFF2-40B4-BE49-F238E27FC236}">
                <a16:creationId xmlns:a16="http://schemas.microsoft.com/office/drawing/2014/main" id="{9DC549FA-0367-A8A3-879D-112C35A28038}"/>
              </a:ext>
            </a:extLst>
          </p:cNvPr>
          <p:cNvSpPr>
            <a:spLocks noGrp="1"/>
          </p:cNvSpPr>
          <p:nvPr/>
        </p:nvSpPr>
        <p:spPr>
          <a:xfrm flipV="1">
            <a:off x="2621" y="3838138"/>
            <a:ext cx="12177843" cy="29886"/>
          </a:xfrm>
          <a:prstGeom prst="rect">
            <a:avLst/>
          </a:prstGeom>
          <a:solidFill>
            <a:srgbClr val="60786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4E8A2C28-65B2-E830-FB62-06232343C182}"/>
              </a:ext>
            </a:extLst>
          </p:cNvPr>
          <p:cNvSpPr>
            <a:spLocks noGrp="1"/>
          </p:cNvSpPr>
          <p:nvPr/>
        </p:nvSpPr>
        <p:spPr>
          <a:xfrm>
            <a:off x="898118" y="4252872"/>
            <a:ext cx="4686300" cy="2190750"/>
          </a:xfrm>
          <a:prstGeom prst="rect">
            <a:avLst/>
          </a:prstGeom>
          <a:solidFill>
            <a:srgbClr val="F1E8DA"/>
          </a:solidFill>
          <a:ln w="14288">
            <a:solidFill>
              <a:srgbClr val="8FA789"/>
            </a:solidFill>
            <a:prstDash val="solid"/>
          </a:ln>
        </p:spPr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32FCB497-272B-A34C-21D2-0FA5DE27AFF3}"/>
              </a:ext>
            </a:extLst>
          </p:cNvPr>
          <p:cNvSpPr>
            <a:spLocks noGrp="1"/>
          </p:cNvSpPr>
          <p:nvPr/>
        </p:nvSpPr>
        <p:spPr>
          <a:xfrm>
            <a:off x="1241018" y="4557672"/>
            <a:ext cx="2476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1500" b="1">
                <a:solidFill>
                  <a:srgbClr val="24322D"/>
                </a:solidFill>
                <a:latin typeface="Aptos"/>
                <a:ea typeface="Aptos"/>
                <a:cs typeface="Aptos"/>
              </a:defRPr>
            </a:pPr>
            <a:r>
              <a:rPr lang="en-US" sz="1500" b="1">
                <a:solidFill>
                  <a:srgbClr val="24322D"/>
                </a:solidFill>
                <a:latin typeface="Aptos"/>
              </a:rPr>
              <a:t>Category Default</a:t>
            </a:r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108A4EEB-6FDB-B98A-82D9-50DDE43C3753}"/>
              </a:ext>
            </a:extLst>
          </p:cNvPr>
          <p:cNvSpPr>
            <a:spLocks noGrp="1"/>
          </p:cNvSpPr>
          <p:nvPr/>
        </p:nvSpPr>
        <p:spPr>
          <a:xfrm>
            <a:off x="1241018" y="4976772"/>
            <a:ext cx="2762250" cy="1181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1575" b="0">
                <a:solidFill>
                  <a:srgbClr val="52635A"/>
                </a:solidFill>
                <a:latin typeface="Aptos"/>
                <a:ea typeface="Aptos"/>
                <a:cs typeface="Aptos"/>
              </a:defRPr>
            </a:pPr>
            <a:r>
              <a:rPr lang="en-US" sz="1550">
                <a:solidFill>
                  <a:srgbClr val="52635A"/>
                </a:solidFill>
                <a:latin typeface="Aptos"/>
              </a:rPr>
              <a:t>Absorb more</a:t>
            </a:r>
            <a:endParaRPr lang="en-US" sz="1575">
              <a:solidFill>
                <a:srgbClr val="52635A"/>
              </a:solidFill>
              <a:latin typeface="Aptos"/>
            </a:endParaRPr>
          </a:p>
          <a:p>
            <a:pPr>
              <a:defRPr sz="1575" b="0">
                <a:solidFill>
                  <a:srgbClr val="52635A"/>
                </a:solidFill>
                <a:latin typeface="Aptos"/>
                <a:ea typeface="Aptos"/>
                <a:cs typeface="Aptos"/>
              </a:defRPr>
            </a:pPr>
            <a:r>
              <a:rPr lang="en-US" sz="1550"/>
              <a:t>Last Longer</a:t>
            </a:r>
          </a:p>
          <a:p>
            <a:pPr>
              <a:defRPr sz="1575" b="0">
                <a:solidFill>
                  <a:srgbClr val="52635A"/>
                </a:solidFill>
                <a:latin typeface="Aptos"/>
                <a:ea typeface="Aptos"/>
                <a:cs typeface="Aptos"/>
              </a:defRPr>
            </a:pPr>
            <a:r>
              <a:rPr lang="en-US" sz="1550"/>
              <a:t>Prevent Leaks</a:t>
            </a:r>
            <a:endParaRPr lang="en-US" sz="1550" dirty="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B67E11A9-A7D0-42DB-B2AF-7E20F5C7E842}"/>
              </a:ext>
            </a:extLst>
          </p:cNvPr>
          <p:cNvSpPr>
            <a:spLocks noGrp="1"/>
          </p:cNvSpPr>
          <p:nvPr/>
        </p:nvSpPr>
        <p:spPr>
          <a:xfrm>
            <a:off x="1241018" y="6119772"/>
            <a:ext cx="32956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1125" b="1">
                <a:solidFill>
                  <a:srgbClr val="607862"/>
                </a:solidFill>
                <a:latin typeface="Aptos"/>
                <a:ea typeface="Aptos"/>
                <a:cs typeface="Aptos"/>
              </a:defRPr>
            </a:pPr>
            <a:r>
              <a:rPr lang="en-US" sz="1100" b="1">
                <a:solidFill>
                  <a:srgbClr val="607862"/>
                </a:solidFill>
                <a:latin typeface="Aptos"/>
              </a:rPr>
              <a:t>Important, but incomplete</a:t>
            </a:r>
            <a:endParaRPr lang="en-US"/>
          </a:p>
        </p:txBody>
      </p:sp>
      <p:pic>
        <p:nvPicPr>
          <p:cNvPr id="69" name="Graphic 68">
            <a:extLst>
              <a:ext uri="{FF2B5EF4-FFF2-40B4-BE49-F238E27FC236}">
                <a16:creationId xmlns:a16="http://schemas.microsoft.com/office/drawing/2014/main" id="{5665D0BE-106F-35F3-0CEC-31DE64AFCF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4537971" y="4972213"/>
            <a:ext cx="742950" cy="742950"/>
          </a:xfrm>
          <a:prstGeom prst="rect">
            <a:avLst/>
          </a:prstGeom>
        </p:spPr>
      </p:pic>
      <p:pic>
        <p:nvPicPr>
          <p:cNvPr id="72" name="Picture 71" descr="A wind blowing in the wind&#10;&#10;AI-generated content may be incorrect.">
            <a:extLst>
              <a:ext uri="{FF2B5EF4-FFF2-40B4-BE49-F238E27FC236}">
                <a16:creationId xmlns:a16="http://schemas.microsoft.com/office/drawing/2014/main" id="{9714E391-9426-7743-4362-FE194A899C2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22473" y="4965212"/>
            <a:ext cx="805310" cy="711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56589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01211504-B0D0-4ADA-80AF-6ACFB3C8DF6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8-marker">
            <a:extLst>
              <a:ext uri="{FF2B5EF4-FFF2-40B4-BE49-F238E27FC236}">
                <a16:creationId xmlns:a16="http://schemas.microsoft.com/office/drawing/2014/main" id="{1EF8E626-79B7-439B-BF2D-61F9938B2D37}"/>
              </a:ext>
            </a:extLst>
          </p:cNvPr>
          <p:cNvSpPr>
            <a:spLocks noGrp="1"/>
          </p:cNvSpPr>
          <p:nvPr/>
        </p:nvSpPr>
        <p:spPr>
          <a:xfrm>
            <a:off x="666750" y="533400"/>
            <a:ext cx="209550" cy="19050"/>
          </a:xfrm>
          <a:prstGeom prst="rect">
            <a:avLst/>
          </a:prstGeom>
          <a:solidFill>
            <a:srgbClr val="60786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8-label">
            <a:extLst>
              <a:ext uri="{FF2B5EF4-FFF2-40B4-BE49-F238E27FC236}">
                <a16:creationId xmlns:a16="http://schemas.microsoft.com/office/drawing/2014/main" id="{8DE02C22-80CF-4E4C-81FF-02F78F398CD8}"/>
              </a:ext>
            </a:extLst>
          </p:cNvPr>
          <p:cNvSpPr>
            <a:spLocks noGrp="1"/>
          </p:cNvSpPr>
          <p:nvPr/>
        </p:nvSpPr>
        <p:spPr>
          <a:xfrm>
            <a:off x="990600" y="457200"/>
            <a:ext cx="2476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750" b="1">
                <a:solidFill>
                  <a:srgbClr val="60786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07862"/>
                </a:solidFill>
                <a:latin typeface="Aptos"/>
                <a:ea typeface="Aptos"/>
                <a:cs typeface="Aptos"/>
              </a:rPr>
              <a:t>WHY NOW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0E5F8A-0877-4128-8A24-1C3B97D069EA}"/>
              </a:ext>
            </a:extLst>
          </p:cNvPr>
          <p:cNvSpPr>
            <a:spLocks noGrp="1"/>
          </p:cNvSpPr>
          <p:nvPr/>
        </p:nvSpPr>
        <p:spPr>
          <a:xfrm>
            <a:off x="666750" y="876300"/>
            <a:ext cx="78105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24322D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4322D"/>
                </a:solidFill>
                <a:latin typeface="Aptos Display"/>
                <a:ea typeface="Aptos Display"/>
                <a:cs typeface="Aptos Display"/>
              </a:rPr>
              <a:t>Parents are ready for safer, online-discovered baby care.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00E91F4-20BA-4B64-9215-EAA6AB5AF9A5}"/>
              </a:ext>
            </a:extLst>
          </p:cNvPr>
          <p:cNvSpPr>
            <a:spLocks noGrp="1"/>
          </p:cNvSpPr>
          <p:nvPr/>
        </p:nvSpPr>
        <p:spPr>
          <a:xfrm>
            <a:off x="672775" y="1943100"/>
            <a:ext cx="6849044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1500" b="0">
                <a:solidFill>
                  <a:srgbClr val="52635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2635A"/>
                </a:solidFill>
                <a:latin typeface="Aptos"/>
                <a:ea typeface="Aptos"/>
                <a:cs typeface="Aptos"/>
              </a:rPr>
              <a:t>The behavior shift is already visible. Luvia gives it a </a:t>
            </a:r>
            <a:r>
              <a:rPr lang="en-US" sz="1500">
                <a:solidFill>
                  <a:srgbClr val="52635A"/>
                </a:solidFill>
                <a:latin typeface="Aptos"/>
                <a:ea typeface="Aptos"/>
                <a:cs typeface="Aptos"/>
              </a:rPr>
              <a:t>climate-specific product</a:t>
            </a:r>
            <a:r>
              <a:rPr sz="1500" b="0" dirty="0">
                <a:solidFill>
                  <a:srgbClr val="52635A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07561C-D440-4847-9F16-71FA3790B9EE}"/>
              </a:ext>
            </a:extLst>
          </p:cNvPr>
          <p:cNvSpPr>
            <a:spLocks noGrp="1"/>
          </p:cNvSpPr>
          <p:nvPr/>
        </p:nvSpPr>
        <p:spPr>
          <a:xfrm>
            <a:off x="990600" y="3143250"/>
            <a:ext cx="2857500" cy="1981200"/>
          </a:xfrm>
          <a:prstGeom prst="rect">
            <a:avLst/>
          </a:prstGeom>
          <a:solidFill>
            <a:srgbClr val="FFFFFF"/>
          </a:solidFill>
          <a:ln w="9525">
            <a:solidFill>
              <a:srgbClr val="CAD8C7"/>
            </a:solidFill>
            <a:prstDash val="solid"/>
          </a:ln>
        </p:spPr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FA97A6D-BB23-458C-BCA3-7E3222E85EF4}"/>
              </a:ext>
            </a:extLst>
          </p:cNvPr>
          <p:cNvSpPr>
            <a:spLocks noGrp="1"/>
          </p:cNvSpPr>
          <p:nvPr/>
        </p:nvSpPr>
        <p:spPr>
          <a:xfrm>
            <a:off x="1295400" y="3467100"/>
            <a:ext cx="647700" cy="647700"/>
          </a:xfrm>
          <a:prstGeom prst="ellipse">
            <a:avLst/>
          </a:prstGeom>
          <a:solidFill>
            <a:srgbClr val="F8F5EE"/>
          </a:solidFill>
          <a:ln w="9525">
            <a:solidFill>
              <a:srgbClr val="CAD8C7"/>
            </a:solidFill>
            <a:prstDash val="solid"/>
          </a:ln>
        </p:spPr>
      </p:sp>
      <p:pic>
        <p:nvPicPr>
          <p:cNvPr id="8" name="Graphic 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470279" y="3641979"/>
            <a:ext cx="297942" cy="297942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7BEC08D2-1F63-4F83-B121-0FB500792A33}"/>
              </a:ext>
            </a:extLst>
          </p:cNvPr>
          <p:cNvSpPr>
            <a:spLocks noGrp="1"/>
          </p:cNvSpPr>
          <p:nvPr/>
        </p:nvSpPr>
        <p:spPr>
          <a:xfrm>
            <a:off x="1295400" y="4193186"/>
            <a:ext cx="209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1800" b="1">
                <a:solidFill>
                  <a:srgbClr val="24322D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US" b="1">
                <a:solidFill>
                  <a:srgbClr val="24322D"/>
                </a:solidFill>
                <a:latin typeface="Aptos Display"/>
                <a:ea typeface="Aptos Display"/>
                <a:cs typeface="Aptos Display"/>
              </a:rPr>
              <a:t>Indian Summer</a:t>
            </a:r>
            <a:endParaRPr sz="1800" b="1">
              <a:solidFill>
                <a:srgbClr val="24322D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3BEA6C8-B094-426F-92C4-5ABC369F944E}"/>
              </a:ext>
            </a:extLst>
          </p:cNvPr>
          <p:cNvSpPr>
            <a:spLocks noGrp="1"/>
          </p:cNvSpPr>
          <p:nvPr/>
        </p:nvSpPr>
        <p:spPr>
          <a:xfrm>
            <a:off x="1157990" y="4592924"/>
            <a:ext cx="21336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1125" b="0">
                <a:solidFill>
                  <a:srgbClr val="52635A"/>
                </a:solidFill>
                <a:latin typeface="Aptos"/>
                <a:ea typeface="Aptos"/>
                <a:cs typeface="Aptos"/>
              </a:defRPr>
            </a:pPr>
            <a:r>
              <a:rPr lang="en-US" sz="1100">
                <a:solidFill>
                  <a:srgbClr val="52635A"/>
                </a:solidFill>
                <a:ea typeface="+mn-lt"/>
                <a:cs typeface="+mn-lt"/>
              </a:rPr>
              <a:t>Hot and humid conditions make comfort more important.</a:t>
            </a:r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069CAF9-E6A4-4FFF-A0CE-7DD51C9AE298}"/>
              </a:ext>
            </a:extLst>
          </p:cNvPr>
          <p:cNvSpPr>
            <a:spLocks noGrp="1"/>
          </p:cNvSpPr>
          <p:nvPr/>
        </p:nvSpPr>
        <p:spPr>
          <a:xfrm>
            <a:off x="4514850" y="3143250"/>
            <a:ext cx="2857500" cy="1981200"/>
          </a:xfrm>
          <a:prstGeom prst="rect">
            <a:avLst/>
          </a:prstGeom>
          <a:solidFill>
            <a:srgbClr val="F1E8DA"/>
          </a:solidFill>
          <a:ln w="9525">
            <a:solidFill>
              <a:srgbClr val="CAD8C7"/>
            </a:solidFill>
            <a:prstDash val="solid"/>
          </a:ln>
        </p:spPr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1640F9F-31F3-457C-A70A-720553DA7552}"/>
              </a:ext>
            </a:extLst>
          </p:cNvPr>
          <p:cNvSpPr>
            <a:spLocks noGrp="1"/>
          </p:cNvSpPr>
          <p:nvPr/>
        </p:nvSpPr>
        <p:spPr>
          <a:xfrm>
            <a:off x="4819650" y="3467100"/>
            <a:ext cx="647700" cy="647700"/>
          </a:xfrm>
          <a:prstGeom prst="ellipse">
            <a:avLst/>
          </a:prstGeom>
          <a:solidFill>
            <a:srgbClr val="F8F5EE"/>
          </a:solidFill>
          <a:ln w="9525">
            <a:solidFill>
              <a:srgbClr val="CAD8C7"/>
            </a:solidFill>
            <a:prstDash val="solid"/>
          </a:ln>
        </p:spPr>
      </p:sp>
      <p:pic>
        <p:nvPicPr>
          <p:cNvPr id="13" name="Graphic 1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4994529" y="3641979"/>
            <a:ext cx="297942" cy="297942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D5569752-E607-4CFB-950E-566989284BC3}"/>
              </a:ext>
            </a:extLst>
          </p:cNvPr>
          <p:cNvSpPr>
            <a:spLocks noGrp="1"/>
          </p:cNvSpPr>
          <p:nvPr/>
        </p:nvSpPr>
        <p:spPr>
          <a:xfrm>
            <a:off x="4819650" y="4193186"/>
            <a:ext cx="209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1800" b="1">
                <a:solidFill>
                  <a:srgbClr val="24322D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US" b="1">
                <a:solidFill>
                  <a:srgbClr val="24322D"/>
                </a:solidFill>
                <a:latin typeface="Aptos Display"/>
              </a:rPr>
              <a:t>Premium Parenting</a:t>
            </a:r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A747D3D-76FC-4CF8-BA34-A4B9A32556DB}"/>
              </a:ext>
            </a:extLst>
          </p:cNvPr>
          <p:cNvSpPr>
            <a:spLocks noGrp="1"/>
          </p:cNvSpPr>
          <p:nvPr/>
        </p:nvSpPr>
        <p:spPr>
          <a:xfrm>
            <a:off x="4800912" y="4592924"/>
            <a:ext cx="21336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1125" b="0">
                <a:solidFill>
                  <a:srgbClr val="52635A"/>
                </a:solidFill>
                <a:latin typeface="Aptos"/>
                <a:ea typeface="Aptos"/>
                <a:cs typeface="Aptos"/>
              </a:defRPr>
            </a:pPr>
            <a:r>
              <a:rPr lang="en-US" sz="1100">
                <a:solidFill>
                  <a:srgbClr val="52635A"/>
                </a:solidFill>
                <a:ea typeface="+mn-lt"/>
                <a:cs typeface="+mn-lt"/>
              </a:rPr>
              <a:t>Online discovery and premium parenting are rising.</a:t>
            </a:r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427F21-6E04-4370-9854-338B4231BCC3}"/>
              </a:ext>
            </a:extLst>
          </p:cNvPr>
          <p:cNvSpPr>
            <a:spLocks noGrp="1"/>
          </p:cNvSpPr>
          <p:nvPr/>
        </p:nvSpPr>
        <p:spPr>
          <a:xfrm>
            <a:off x="8039100" y="3143250"/>
            <a:ext cx="2857500" cy="1981200"/>
          </a:xfrm>
          <a:prstGeom prst="rect">
            <a:avLst/>
          </a:prstGeom>
          <a:solidFill>
            <a:srgbClr val="FFFFFF"/>
          </a:solidFill>
          <a:ln w="9525">
            <a:solidFill>
              <a:srgbClr val="CAD8C7"/>
            </a:solidFill>
            <a:prstDash val="solid"/>
          </a:ln>
        </p:spPr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128CAC5D-7636-40E7-A758-A5A22869CCA7}"/>
              </a:ext>
            </a:extLst>
          </p:cNvPr>
          <p:cNvSpPr>
            <a:spLocks noGrp="1"/>
          </p:cNvSpPr>
          <p:nvPr/>
        </p:nvSpPr>
        <p:spPr>
          <a:xfrm>
            <a:off x="8343900" y="3467100"/>
            <a:ext cx="647700" cy="647700"/>
          </a:xfrm>
          <a:prstGeom prst="ellipse">
            <a:avLst/>
          </a:prstGeom>
          <a:solidFill>
            <a:srgbClr val="F8F5EE"/>
          </a:solidFill>
          <a:ln w="9525">
            <a:solidFill>
              <a:srgbClr val="CAD8C7"/>
            </a:solidFill>
            <a:prstDash val="solid"/>
          </a:ln>
        </p:spPr>
      </p:sp>
      <p:pic>
        <p:nvPicPr>
          <p:cNvPr id="18" name="Graphic 1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8518779" y="3641979"/>
            <a:ext cx="297942" cy="297942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9C4C417C-E5DD-4B4B-9E0D-67EE4B04B5BB}"/>
              </a:ext>
            </a:extLst>
          </p:cNvPr>
          <p:cNvSpPr>
            <a:spLocks noGrp="1"/>
          </p:cNvSpPr>
          <p:nvPr/>
        </p:nvSpPr>
        <p:spPr>
          <a:xfrm>
            <a:off x="8343900" y="4193186"/>
            <a:ext cx="209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1800" b="1">
                <a:solidFill>
                  <a:srgbClr val="24322D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US" b="1">
                <a:solidFill>
                  <a:srgbClr val="24322D"/>
                </a:solidFill>
                <a:latin typeface="Aptos Display"/>
              </a:rPr>
              <a:t>Online Discovery</a:t>
            </a:r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7F8F8B4-1FAA-42C6-A6FA-2FEACCD9E9C6}"/>
              </a:ext>
            </a:extLst>
          </p:cNvPr>
          <p:cNvSpPr>
            <a:spLocks noGrp="1"/>
          </p:cNvSpPr>
          <p:nvPr/>
        </p:nvSpPr>
        <p:spPr>
          <a:xfrm>
            <a:off x="8306425" y="4586678"/>
            <a:ext cx="21336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2635A"/>
                </a:solidFill>
                <a:latin typeface="Aptos"/>
                <a:ea typeface="Aptos"/>
                <a:cs typeface="Aptos"/>
              </a:defRPr>
            </a:pPr>
            <a:r>
              <a:rPr lang="en-US"/>
              <a:t>Parents increasingly seek safer and gentler products.</a:t>
            </a:r>
            <a:endParaRPr lang="en-US" sz="1100" b="0" dirty="0">
              <a:solidFill>
                <a:srgbClr val="52635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B8FCC1F-F28F-40A5-9CD1-218E2BFEDA35}"/>
              </a:ext>
            </a:extLst>
          </p:cNvPr>
          <p:cNvSpPr>
            <a:spLocks noGrp="1"/>
          </p:cNvSpPr>
          <p:nvPr/>
        </p:nvSpPr>
        <p:spPr>
          <a:xfrm>
            <a:off x="1962150" y="5753100"/>
            <a:ext cx="8267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607862"/>
                </a:solidFill>
                <a:latin typeface="Aptos Display"/>
                <a:ea typeface="Aptos Display"/>
                <a:cs typeface="Aptos Display"/>
              </a:defRPr>
            </a:pPr>
            <a:endParaRPr lang="en-US" sz="1650" b="1" dirty="0">
              <a:solidFill>
                <a:srgbClr val="607862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9656A6A-F0C7-46DB-B426-FB1F8ED8EEAD}"/>
              </a:ext>
            </a:extLst>
          </p:cNvPr>
          <p:cNvSpPr>
            <a:spLocks noGrp="1"/>
          </p:cNvSpPr>
          <p:nvPr/>
        </p:nvSpPr>
        <p:spPr>
          <a:xfrm>
            <a:off x="11239500" y="6419850"/>
            <a:ext cx="304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60786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07862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7294855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D52B3EDE-F639-4A57-9E2C-5B6A1DD6109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963767" y="1739173"/>
            <a:ext cx="6705600" cy="3773905"/>
          </a:xfrm>
          <a:prstGeom prst="rect">
            <a:avLst/>
          </a:prstGeom>
        </p:spPr>
      </p:pic>
      <p:sp>
        <p:nvSpPr>
          <p:cNvPr id="3" name="kicker-07-marker">
            <a:extLst>
              <a:ext uri="{FF2B5EF4-FFF2-40B4-BE49-F238E27FC236}">
                <a16:creationId xmlns:a16="http://schemas.microsoft.com/office/drawing/2014/main" id="{CA01092F-675F-41DC-8D69-A1AD10F0F5A4}"/>
              </a:ext>
            </a:extLst>
          </p:cNvPr>
          <p:cNvSpPr>
            <a:spLocks noGrp="1"/>
          </p:cNvSpPr>
          <p:nvPr/>
        </p:nvSpPr>
        <p:spPr>
          <a:xfrm>
            <a:off x="666750" y="533400"/>
            <a:ext cx="209550" cy="19050"/>
          </a:xfrm>
          <a:prstGeom prst="rect">
            <a:avLst/>
          </a:prstGeom>
          <a:solidFill>
            <a:srgbClr val="60786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7-label">
            <a:extLst>
              <a:ext uri="{FF2B5EF4-FFF2-40B4-BE49-F238E27FC236}">
                <a16:creationId xmlns:a16="http://schemas.microsoft.com/office/drawing/2014/main" id="{7FD1EACB-34EF-4B42-9100-B70674435A97}"/>
              </a:ext>
            </a:extLst>
          </p:cNvPr>
          <p:cNvSpPr>
            <a:spLocks noGrp="1"/>
          </p:cNvSpPr>
          <p:nvPr/>
        </p:nvSpPr>
        <p:spPr>
          <a:xfrm>
            <a:off x="990600" y="457200"/>
            <a:ext cx="2476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750" b="1">
                <a:solidFill>
                  <a:srgbClr val="60786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07862"/>
                </a:solidFill>
                <a:latin typeface="Aptos"/>
                <a:ea typeface="Aptos"/>
                <a:cs typeface="Aptos"/>
              </a:rPr>
              <a:t>INTRODUCING LUVIA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0C2FAAE-7C19-433F-8155-2769254D3AF4}"/>
              </a:ext>
            </a:extLst>
          </p:cNvPr>
          <p:cNvSpPr>
            <a:spLocks noGrp="1"/>
          </p:cNvSpPr>
          <p:nvPr/>
        </p:nvSpPr>
        <p:spPr>
          <a:xfrm>
            <a:off x="673376" y="876300"/>
            <a:ext cx="7638221" cy="1123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24322D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4322D"/>
                </a:solidFill>
                <a:latin typeface="Aptos Display"/>
                <a:ea typeface="Aptos Display"/>
                <a:cs typeface="Aptos Display"/>
              </a:rPr>
              <a:t>Luvia designs the climate around baby skin.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970993D-EBF6-4F66-AFB9-DF57A4C5A2E4}"/>
              </a:ext>
            </a:extLst>
          </p:cNvPr>
          <p:cNvSpPr>
            <a:spLocks noGrp="1"/>
          </p:cNvSpPr>
          <p:nvPr/>
        </p:nvSpPr>
        <p:spPr>
          <a:xfrm>
            <a:off x="685800" y="2343150"/>
            <a:ext cx="41910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1500" b="0">
                <a:solidFill>
                  <a:srgbClr val="52635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2635A"/>
                </a:solidFill>
                <a:latin typeface="Aptos"/>
                <a:ea typeface="Aptos"/>
                <a:cs typeface="Aptos"/>
              </a:rPr>
              <a:t>A premium eco-friendly diaper engineered for </a:t>
            </a:r>
            <a:endParaRPr lang="en-US"/>
          </a:p>
          <a:p>
            <a:pPr algn="l">
              <a:defRPr sz="1500" b="0">
                <a:solidFill>
                  <a:srgbClr val="52635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2635A"/>
                </a:solidFill>
                <a:latin typeface="Aptos"/>
                <a:ea typeface="Aptos"/>
                <a:cs typeface="Aptos"/>
              </a:rPr>
              <a:t>hot and humid markets.</a:t>
            </a:r>
            <a:endParaRPr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38F5EC2-1845-4C0B-A8EE-969710F64260}"/>
              </a:ext>
            </a:extLst>
          </p:cNvPr>
          <p:cNvSpPr>
            <a:spLocks noGrp="1"/>
          </p:cNvSpPr>
          <p:nvPr/>
        </p:nvSpPr>
        <p:spPr>
          <a:xfrm>
            <a:off x="781050" y="3457575"/>
            <a:ext cx="66675" cy="66675"/>
          </a:xfrm>
          <a:prstGeom prst="ellipse">
            <a:avLst/>
          </a:prstGeom>
          <a:solidFill>
            <a:srgbClr val="8FA78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32FF64C-9D85-4935-A1B6-B4A31A4C7579}"/>
              </a:ext>
            </a:extLst>
          </p:cNvPr>
          <p:cNvSpPr>
            <a:spLocks noGrp="1"/>
          </p:cNvSpPr>
          <p:nvPr/>
        </p:nvSpPr>
        <p:spPr>
          <a:xfrm>
            <a:off x="971550" y="3390900"/>
            <a:ext cx="3238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2635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35A"/>
                </a:solidFill>
                <a:latin typeface="Aptos"/>
                <a:ea typeface="Aptos"/>
                <a:cs typeface="Aptos"/>
              </a:rPr>
              <a:t>Skin-health first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78CC200-7050-40B4-B111-94004C7EA726}"/>
              </a:ext>
            </a:extLst>
          </p:cNvPr>
          <p:cNvSpPr>
            <a:spLocks noGrp="1"/>
          </p:cNvSpPr>
          <p:nvPr/>
        </p:nvSpPr>
        <p:spPr>
          <a:xfrm>
            <a:off x="781050" y="3838575"/>
            <a:ext cx="66675" cy="66675"/>
          </a:xfrm>
          <a:prstGeom prst="ellipse">
            <a:avLst/>
          </a:prstGeom>
          <a:solidFill>
            <a:srgbClr val="8FA78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E11342E-0D2D-4DD7-B442-26EA6388C2B7}"/>
              </a:ext>
            </a:extLst>
          </p:cNvPr>
          <p:cNvSpPr>
            <a:spLocks noGrp="1"/>
          </p:cNvSpPr>
          <p:nvPr/>
        </p:nvSpPr>
        <p:spPr>
          <a:xfrm>
            <a:off x="971550" y="3771900"/>
            <a:ext cx="3238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2635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35A"/>
                </a:solidFill>
                <a:latin typeface="Aptos"/>
                <a:ea typeface="Aptos"/>
                <a:cs typeface="Aptos"/>
              </a:rPr>
              <a:t>Climate-specific design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21A631EF-F88C-4DB7-B3D5-D6EA7D29DE18}"/>
              </a:ext>
            </a:extLst>
          </p:cNvPr>
          <p:cNvSpPr>
            <a:spLocks noGrp="1"/>
          </p:cNvSpPr>
          <p:nvPr/>
        </p:nvSpPr>
        <p:spPr>
          <a:xfrm>
            <a:off x="781050" y="4219575"/>
            <a:ext cx="66675" cy="66675"/>
          </a:xfrm>
          <a:prstGeom prst="ellipse">
            <a:avLst/>
          </a:prstGeom>
          <a:solidFill>
            <a:srgbClr val="8FA78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DE3E65-46CA-45FC-85D9-BF7B90691349}"/>
              </a:ext>
            </a:extLst>
          </p:cNvPr>
          <p:cNvSpPr>
            <a:spLocks noGrp="1"/>
          </p:cNvSpPr>
          <p:nvPr/>
        </p:nvSpPr>
        <p:spPr>
          <a:xfrm>
            <a:off x="971550" y="4152900"/>
            <a:ext cx="3238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2635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35A"/>
                </a:solidFill>
                <a:latin typeface="Aptos"/>
                <a:ea typeface="Aptos"/>
                <a:cs typeface="Aptos"/>
              </a:rPr>
              <a:t>Eco-conscious materials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01D460D-A88E-4AD1-89B9-20A5C57AC1E8}"/>
              </a:ext>
            </a:extLst>
          </p:cNvPr>
          <p:cNvSpPr>
            <a:spLocks noGrp="1"/>
          </p:cNvSpPr>
          <p:nvPr/>
        </p:nvSpPr>
        <p:spPr>
          <a:xfrm>
            <a:off x="781050" y="4600575"/>
            <a:ext cx="66675" cy="66675"/>
          </a:xfrm>
          <a:prstGeom prst="ellipse">
            <a:avLst/>
          </a:prstGeom>
          <a:solidFill>
            <a:srgbClr val="8FA78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ABA65D-CC4F-4F63-B8C0-F2EAE70BADA9}"/>
              </a:ext>
            </a:extLst>
          </p:cNvPr>
          <p:cNvSpPr>
            <a:spLocks noGrp="1"/>
          </p:cNvSpPr>
          <p:nvPr/>
        </p:nvSpPr>
        <p:spPr>
          <a:xfrm>
            <a:off x="971550" y="4533900"/>
            <a:ext cx="3238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2635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35A"/>
                </a:solidFill>
                <a:latin typeface="Aptos"/>
                <a:ea typeface="Aptos"/>
                <a:cs typeface="Aptos"/>
              </a:rPr>
              <a:t>Parent convenience built in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B979102-3F28-495B-A529-E0268BBEF602}"/>
              </a:ext>
            </a:extLst>
          </p:cNvPr>
          <p:cNvSpPr>
            <a:spLocks noGrp="1"/>
          </p:cNvSpPr>
          <p:nvPr/>
        </p:nvSpPr>
        <p:spPr>
          <a:xfrm>
            <a:off x="487017" y="5927035"/>
            <a:ext cx="10606708" cy="586408"/>
          </a:xfrm>
          <a:prstGeom prst="rect">
            <a:avLst/>
          </a:prstGeom>
          <a:solidFill>
            <a:srgbClr val="F1E8DA"/>
          </a:solidFill>
          <a:ln w="9525">
            <a:solidFill>
              <a:srgbClr val="E9DDCA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55F70F8-2D44-4319-83CC-442BA255543A}"/>
              </a:ext>
            </a:extLst>
          </p:cNvPr>
          <p:cNvSpPr>
            <a:spLocks noGrp="1"/>
          </p:cNvSpPr>
          <p:nvPr/>
        </p:nvSpPr>
        <p:spPr>
          <a:xfrm>
            <a:off x="715617" y="6041335"/>
            <a:ext cx="35433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24322D"/>
                </a:solidFill>
                <a:latin typeface="Aptos"/>
                <a:ea typeface="Aptos"/>
                <a:cs typeface="Aptos"/>
              </a:defRPr>
            </a:pPr>
            <a:endParaRPr lang="en-US" sz="1200" b="1" dirty="0">
              <a:solidFill>
                <a:srgbClr val="24322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7012453-F855-4840-9CAF-F28DC01EBA44}"/>
              </a:ext>
            </a:extLst>
          </p:cNvPr>
          <p:cNvSpPr>
            <a:spLocks noGrp="1"/>
          </p:cNvSpPr>
          <p:nvPr/>
        </p:nvSpPr>
        <p:spPr>
          <a:xfrm>
            <a:off x="11239500" y="6419850"/>
            <a:ext cx="304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60786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07862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049215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5874E9D2-897F-4EF4-BA00-EE7ED3F35542}"/>
              </a:ext>
            </a:extLst>
          </p:cNvPr>
          <p:cNvSpPr>
            <a:spLocks noGrp="1"/>
          </p:cNvSpPr>
          <p:nvPr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8-marker">
            <a:extLst>
              <a:ext uri="{FF2B5EF4-FFF2-40B4-BE49-F238E27FC236}">
                <a16:creationId xmlns:a16="http://schemas.microsoft.com/office/drawing/2014/main" id="{0D9C30AC-B96E-4F3A-AB52-22974B8F3F3D}"/>
              </a:ext>
            </a:extLst>
          </p:cNvPr>
          <p:cNvSpPr>
            <a:spLocks noGrp="1"/>
          </p:cNvSpPr>
          <p:nvPr/>
        </p:nvSpPr>
        <p:spPr>
          <a:xfrm>
            <a:off x="666750" y="533400"/>
            <a:ext cx="209550" cy="19050"/>
          </a:xfrm>
          <a:prstGeom prst="rect">
            <a:avLst/>
          </a:prstGeom>
          <a:solidFill>
            <a:srgbClr val="60786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8-label">
            <a:extLst>
              <a:ext uri="{FF2B5EF4-FFF2-40B4-BE49-F238E27FC236}">
                <a16:creationId xmlns:a16="http://schemas.microsoft.com/office/drawing/2014/main" id="{B6B2B282-5707-4AF8-9E27-981E68B4F455}"/>
              </a:ext>
            </a:extLst>
          </p:cNvPr>
          <p:cNvSpPr>
            <a:spLocks noGrp="1"/>
          </p:cNvSpPr>
          <p:nvPr/>
        </p:nvSpPr>
        <p:spPr>
          <a:xfrm>
            <a:off x="990600" y="457200"/>
            <a:ext cx="2476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750" b="1">
                <a:solidFill>
                  <a:srgbClr val="60786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07862"/>
                </a:solidFill>
                <a:latin typeface="Aptos"/>
                <a:ea typeface="Aptos"/>
                <a:cs typeface="Aptos"/>
              </a:rPr>
              <a:t>PRODUCT SYSTEM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E5E95E-EC7E-4443-87CC-31E96C563C13}"/>
              </a:ext>
            </a:extLst>
          </p:cNvPr>
          <p:cNvSpPr>
            <a:spLocks noGrp="1"/>
          </p:cNvSpPr>
          <p:nvPr/>
        </p:nvSpPr>
        <p:spPr>
          <a:xfrm>
            <a:off x="666750" y="876300"/>
            <a:ext cx="6667500" cy="895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3150" b="1">
                <a:solidFill>
                  <a:srgbClr val="24322D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US" sz="3150">
                <a:solidFill>
                  <a:srgbClr val="24322D"/>
                </a:solidFill>
                <a:ea typeface="+mn-lt"/>
                <a:cs typeface="+mn-lt"/>
              </a:rPr>
              <a:t>Comfort is designed layer by layer.</a:t>
            </a:r>
            <a:endParaRPr lang="en-US">
              <a:ea typeface="+mn-lt"/>
              <a:cs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C7F950C-CACC-40FE-A55A-B2ED6C97ACB2}"/>
              </a:ext>
            </a:extLst>
          </p:cNvPr>
          <p:cNvSpPr>
            <a:spLocks noGrp="1"/>
          </p:cNvSpPr>
          <p:nvPr/>
        </p:nvSpPr>
        <p:spPr>
          <a:xfrm>
            <a:off x="666262" y="1559331"/>
            <a:ext cx="9284839" cy="412751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1500" b="0">
                <a:solidFill>
                  <a:srgbClr val="52635A"/>
                </a:solidFill>
                <a:latin typeface="Aptos"/>
                <a:ea typeface="Aptos"/>
                <a:cs typeface="Aptos"/>
              </a:defRPr>
            </a:pPr>
            <a:r>
              <a:rPr lang="en-US" sz="1600">
                <a:ea typeface="Calibri"/>
                <a:cs typeface="Calibri"/>
              </a:rPr>
              <a:t>Comfort isn't one feature. It is a system.</a:t>
            </a:r>
            <a:endParaRPr lang="en-US" sz="1600" dirty="0">
              <a:ea typeface="Calibri"/>
              <a:cs typeface="Calibri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BBAE885-79BA-4871-8520-89F353D1DEE1}"/>
              </a:ext>
            </a:extLst>
          </p:cNvPr>
          <p:cNvSpPr>
            <a:spLocks noGrp="1"/>
          </p:cNvSpPr>
          <p:nvPr/>
        </p:nvSpPr>
        <p:spPr>
          <a:xfrm>
            <a:off x="11239500" y="6419850"/>
            <a:ext cx="304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60786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07862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94EDE3EC-DE4E-7BDC-A6E2-7FE7F801193F}"/>
              </a:ext>
            </a:extLst>
          </p:cNvPr>
          <p:cNvGrpSpPr/>
          <p:nvPr/>
        </p:nvGrpSpPr>
        <p:grpSpPr>
          <a:xfrm>
            <a:off x="3047350" y="2346571"/>
            <a:ext cx="5369494" cy="4314741"/>
            <a:chOff x="5118427" y="2346571"/>
            <a:chExt cx="5369494" cy="4314741"/>
          </a:xfrm>
        </p:grpSpPr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8F203D80-7CA6-69DB-F0CF-B832F695ED95}"/>
                </a:ext>
              </a:extLst>
            </p:cNvPr>
            <p:cNvCxnSpPr/>
            <p:nvPr/>
          </p:nvCxnSpPr>
          <p:spPr>
            <a:xfrm flipV="1">
              <a:off x="6969515" y="2737416"/>
              <a:ext cx="1952322" cy="45797"/>
            </a:xfrm>
            <a:prstGeom prst="straightConnector1">
              <a:avLst/>
            </a:prstGeom>
            <a:ln>
              <a:solidFill>
                <a:srgbClr val="273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4444F7FB-1248-6DD5-5ED4-77F04C053D5F}"/>
                </a:ext>
              </a:extLst>
            </p:cNvPr>
            <p:cNvGrpSpPr/>
            <p:nvPr/>
          </p:nvGrpSpPr>
          <p:grpSpPr>
            <a:xfrm>
              <a:off x="6095349" y="2346897"/>
              <a:ext cx="882161" cy="843084"/>
              <a:chOff x="3503246" y="2711613"/>
              <a:chExt cx="882161" cy="843084"/>
            </a:xfrm>
          </p:grpSpPr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86375787-7EEF-F874-A5FF-596E82E59287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3503246" y="2711613"/>
                <a:ext cx="882161" cy="843084"/>
              </a:xfrm>
              <a:prstGeom prst="ellipse">
                <a:avLst/>
              </a:prstGeom>
              <a:solidFill>
                <a:srgbClr val="2F4039"/>
              </a:solidFill>
              <a:ln w="9525">
                <a:solidFill>
                  <a:srgbClr val="2F4039"/>
                </a:solidFill>
                <a:prstDash val="solid"/>
              </a:ln>
            </p:spPr>
          </p:sp>
          <p:pic>
            <p:nvPicPr>
              <p:cNvPr id="26" name="Graphic 25" descr="Bamboo with solid fill"/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/>
            </p:blipFill>
            <p:spPr>
              <a:xfrm>
                <a:off x="3640667" y="2804421"/>
                <a:ext cx="666750" cy="666750"/>
              </a:xfrm>
              <a:prstGeom prst="rect">
                <a:avLst/>
              </a:prstGeom>
            </p:spPr>
          </p:pic>
        </p:grp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A43966F0-1577-8368-E052-4C7B0E313F62}"/>
                </a:ext>
              </a:extLst>
            </p:cNvPr>
            <p:cNvGrpSpPr/>
            <p:nvPr/>
          </p:nvGrpSpPr>
          <p:grpSpPr>
            <a:xfrm>
              <a:off x="7410940" y="5818228"/>
              <a:ext cx="882161" cy="843084"/>
              <a:chOff x="4805811" y="5772638"/>
              <a:chExt cx="882161" cy="843084"/>
            </a:xfrm>
          </p:grpSpPr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23563389-E112-51EE-18BE-EEE669718E17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805811" y="5772638"/>
                <a:ext cx="882161" cy="843084"/>
              </a:xfrm>
              <a:prstGeom prst="ellipse">
                <a:avLst/>
              </a:prstGeom>
              <a:solidFill>
                <a:srgbClr val="2F4039"/>
              </a:solidFill>
              <a:ln w="9525">
                <a:solidFill>
                  <a:srgbClr val="2F4039"/>
                </a:solidFill>
                <a:prstDash val="solid"/>
              </a:ln>
            </p:spPr>
          </p:sp>
          <p:pic>
            <p:nvPicPr>
              <p:cNvPr id="30" name="Graphic 29" descr="Sustainability with solid fill">
                <a:extLst>
                  <a:ext uri="{FF2B5EF4-FFF2-40B4-BE49-F238E27FC236}">
                    <a16:creationId xmlns:a16="http://schemas.microsoft.com/office/drawing/2014/main" id="{F241C6DF-599C-581B-D191-1F8EFB7A542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4922388" y="5850464"/>
                <a:ext cx="679941" cy="686453"/>
              </a:xfrm>
              <a:prstGeom prst="rect">
                <a:avLst/>
              </a:prstGeom>
            </p:spPr>
          </p:pic>
        </p:grp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369344B9-0C99-92D2-805E-B849E2CD9947}"/>
                </a:ext>
              </a:extLst>
            </p:cNvPr>
            <p:cNvGrpSpPr/>
            <p:nvPr/>
          </p:nvGrpSpPr>
          <p:grpSpPr>
            <a:xfrm>
              <a:off x="5118427" y="4391921"/>
              <a:ext cx="882161" cy="843084"/>
              <a:chOff x="3190631" y="4593818"/>
              <a:chExt cx="882161" cy="843084"/>
            </a:xfrm>
          </p:grpSpPr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CC46B2BF-3DD8-CF4D-759C-ACF8F86A3F07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3190631" y="4593818"/>
                <a:ext cx="882161" cy="843084"/>
              </a:xfrm>
              <a:prstGeom prst="ellipse">
                <a:avLst/>
              </a:prstGeom>
              <a:solidFill>
                <a:srgbClr val="2F4039"/>
              </a:solidFill>
              <a:ln w="9525">
                <a:solidFill>
                  <a:srgbClr val="2F4039"/>
                </a:solidFill>
                <a:prstDash val="solid"/>
              </a:ln>
            </p:spPr>
          </p:sp>
          <p:pic>
            <p:nvPicPr>
              <p:cNvPr id="33" name="Graphic 32" descr="Thermometer with solid fill">
                <a:extLst>
                  <a:ext uri="{FF2B5EF4-FFF2-40B4-BE49-F238E27FC236}">
                    <a16:creationId xmlns:a16="http://schemas.microsoft.com/office/drawing/2014/main" id="{21327E12-7F09-8EC9-0FF4-A6971620EC1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3294186" y="4704211"/>
                <a:ext cx="679938" cy="666914"/>
              </a:xfrm>
              <a:prstGeom prst="rect">
                <a:avLst/>
              </a:prstGeom>
            </p:spPr>
          </p:pic>
        </p:grp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52DFF360-209F-8A1E-928C-576F58AFBF01}"/>
                </a:ext>
              </a:extLst>
            </p:cNvPr>
            <p:cNvGrpSpPr/>
            <p:nvPr/>
          </p:nvGrpSpPr>
          <p:grpSpPr>
            <a:xfrm>
              <a:off x="8791003" y="2346571"/>
              <a:ext cx="934916" cy="843408"/>
              <a:chOff x="6042594" y="2802468"/>
              <a:chExt cx="934916" cy="843408"/>
            </a:xfrm>
          </p:grpSpPr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5BAB32B1-7755-FD54-3FDD-4A6E44B0021D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6095349" y="2802792"/>
                <a:ext cx="882161" cy="843084"/>
              </a:xfrm>
              <a:prstGeom prst="ellipse">
                <a:avLst/>
              </a:prstGeom>
              <a:solidFill>
                <a:srgbClr val="2F4039"/>
              </a:solidFill>
              <a:ln w="9525">
                <a:solidFill>
                  <a:srgbClr val="2F4039"/>
                </a:solidFill>
                <a:prstDash val="solid"/>
              </a:ln>
            </p:spPr>
          </p:sp>
          <p:pic>
            <p:nvPicPr>
              <p:cNvPr id="37" name="Graphic 36" descr="Feather with solid fill">
                <a:extLst>
                  <a:ext uri="{FF2B5EF4-FFF2-40B4-BE49-F238E27FC236}">
                    <a16:creationId xmlns:a16="http://schemas.microsoft.com/office/drawing/2014/main" id="{1905A600-FB26-098B-34A5-88DE8E50B59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6042594" y="2802468"/>
                <a:ext cx="901376" cy="816707"/>
              </a:xfrm>
              <a:prstGeom prst="rect">
                <a:avLst/>
              </a:prstGeom>
            </p:spPr>
          </p:pic>
        </p:grp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AC301E82-008A-1026-143D-C98E158EB50D}"/>
                </a:ext>
              </a:extLst>
            </p:cNvPr>
            <p:cNvGrpSpPr/>
            <p:nvPr/>
          </p:nvGrpSpPr>
          <p:grpSpPr>
            <a:xfrm>
              <a:off x="9605106" y="4430673"/>
              <a:ext cx="882815" cy="843407"/>
              <a:chOff x="6531054" y="4593495"/>
              <a:chExt cx="882815" cy="843407"/>
            </a:xfrm>
          </p:grpSpPr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1BFF7CB0-72A8-8315-2683-BAAB920EB938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6531708" y="4593818"/>
                <a:ext cx="882161" cy="843084"/>
              </a:xfrm>
              <a:prstGeom prst="ellipse">
                <a:avLst/>
              </a:prstGeom>
              <a:solidFill>
                <a:srgbClr val="2F4039"/>
              </a:solidFill>
              <a:ln w="9525">
                <a:solidFill>
                  <a:srgbClr val="2F4039"/>
                </a:solidFill>
                <a:prstDash val="solid"/>
              </a:ln>
            </p:spPr>
          </p:sp>
          <p:pic>
            <p:nvPicPr>
              <p:cNvPr id="38" name="Graphic 37" descr="Yoga with solid fill">
                <a:extLst>
                  <a:ext uri="{FF2B5EF4-FFF2-40B4-BE49-F238E27FC236}">
                    <a16:creationId xmlns:a16="http://schemas.microsoft.com/office/drawing/2014/main" id="{444493C9-20EA-D3E6-798F-A5AB8BB15D9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6531054" y="4593495"/>
                <a:ext cx="823223" cy="751578"/>
              </a:xfrm>
              <a:prstGeom prst="rect">
                <a:avLst/>
              </a:prstGeom>
            </p:spPr>
          </p:pic>
        </p:grp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B6C3F2CA-2D21-292C-2CEE-1760ACC55656}"/>
                </a:ext>
              </a:extLst>
            </p:cNvPr>
            <p:cNvGrpSpPr/>
            <p:nvPr/>
          </p:nvGrpSpPr>
          <p:grpSpPr>
            <a:xfrm>
              <a:off x="7448957" y="3870162"/>
              <a:ext cx="915783" cy="915458"/>
              <a:chOff x="4804752" y="3967854"/>
              <a:chExt cx="915783" cy="915458"/>
            </a:xfrm>
          </p:grpSpPr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55F98908-A1CA-69EB-A4C8-D39D87A8645F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838374" y="4040228"/>
                <a:ext cx="882161" cy="843084"/>
              </a:xfrm>
              <a:prstGeom prst="ellipse">
                <a:avLst/>
              </a:prstGeom>
              <a:solidFill>
                <a:srgbClr val="2F4039"/>
              </a:solidFill>
              <a:ln w="9525">
                <a:solidFill>
                  <a:srgbClr val="2F4039"/>
                </a:solidFill>
                <a:prstDash val="solid"/>
              </a:ln>
            </p:spPr>
          </p:sp>
          <p:pic>
            <p:nvPicPr>
              <p:cNvPr id="35" name="Graphic 34" descr="Baby crawling with solid fill">
                <a:extLst>
                  <a:ext uri="{FF2B5EF4-FFF2-40B4-BE49-F238E27FC236}">
                    <a16:creationId xmlns:a16="http://schemas.microsoft.com/office/drawing/2014/main" id="{5963ADBF-946F-BAF4-99CE-3FA7AA53B92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4804752" y="3967854"/>
                <a:ext cx="914400" cy="914400"/>
              </a:xfrm>
              <a:prstGeom prst="rect">
                <a:avLst/>
              </a:prstGeom>
            </p:spPr>
          </p:pic>
        </p:grp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8BFB58A5-2DDC-6263-B844-CF4EA40E9F04}"/>
                </a:ext>
              </a:extLst>
            </p:cNvPr>
            <p:cNvCxnSpPr/>
            <p:nvPr/>
          </p:nvCxnSpPr>
          <p:spPr>
            <a:xfrm flipV="1">
              <a:off x="5755925" y="3068253"/>
              <a:ext cx="578291" cy="1420007"/>
            </a:xfrm>
            <a:prstGeom prst="straightConnector1">
              <a:avLst/>
            </a:prstGeom>
            <a:ln>
              <a:solidFill>
                <a:srgbClr val="2F403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C2FACBD8-FC8F-8D2E-BB1A-21C9C84568E9}"/>
                </a:ext>
              </a:extLst>
            </p:cNvPr>
            <p:cNvCxnSpPr/>
            <p:nvPr/>
          </p:nvCxnSpPr>
          <p:spPr>
            <a:xfrm>
              <a:off x="9416757" y="3185652"/>
              <a:ext cx="571803" cy="1312859"/>
            </a:xfrm>
            <a:prstGeom prst="straightConnector1">
              <a:avLst/>
            </a:prstGeom>
            <a:ln>
              <a:solidFill>
                <a:srgbClr val="273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C09AB405-D578-7BF4-5AF9-9F54EBF456DF}"/>
                </a:ext>
              </a:extLst>
            </p:cNvPr>
            <p:cNvCxnSpPr/>
            <p:nvPr/>
          </p:nvCxnSpPr>
          <p:spPr>
            <a:xfrm>
              <a:off x="5867625" y="5144498"/>
              <a:ext cx="1631932" cy="946911"/>
            </a:xfrm>
            <a:prstGeom prst="straightConnector1">
              <a:avLst/>
            </a:prstGeom>
            <a:ln>
              <a:solidFill>
                <a:srgbClr val="2F403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C206968E-D77C-5B10-E12D-449406C1FCC5}"/>
                </a:ext>
              </a:extLst>
            </p:cNvPr>
            <p:cNvCxnSpPr/>
            <p:nvPr/>
          </p:nvCxnSpPr>
          <p:spPr>
            <a:xfrm flipH="1">
              <a:off x="8085698" y="5151003"/>
              <a:ext cx="1694438" cy="963849"/>
            </a:xfrm>
            <a:prstGeom prst="straightConnector1">
              <a:avLst/>
            </a:prstGeom>
            <a:ln>
              <a:solidFill>
                <a:srgbClr val="273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3" name="TextBox 62">
            <a:extLst>
              <a:ext uri="{FF2B5EF4-FFF2-40B4-BE49-F238E27FC236}">
                <a16:creationId xmlns:a16="http://schemas.microsoft.com/office/drawing/2014/main" id="{0FE6E999-A544-3F22-4D69-FFF07B8A6B0B}"/>
              </a:ext>
            </a:extLst>
          </p:cNvPr>
          <p:cNvSpPr txBox="1"/>
          <p:nvPr/>
        </p:nvSpPr>
        <p:spPr>
          <a:xfrm>
            <a:off x="8056359" y="2543257"/>
            <a:ext cx="2598616" cy="3231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500">
                <a:solidFill>
                  <a:srgbClr val="273531"/>
                </a:solidFill>
                <a:ea typeface="+mn-lt"/>
                <a:cs typeface="+mn-lt"/>
              </a:rPr>
              <a:t>Comfort matters the most .</a:t>
            </a:r>
            <a:endParaRPr lang="en-US">
              <a:ea typeface="+mn-lt"/>
              <a:cs typeface="+mn-lt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085EF11-FD50-F4E0-B50A-26C97A1B2925}"/>
              </a:ext>
            </a:extLst>
          </p:cNvPr>
          <p:cNvSpPr txBox="1"/>
          <p:nvPr/>
        </p:nvSpPr>
        <p:spPr>
          <a:xfrm>
            <a:off x="1237436" y="2439052"/>
            <a:ext cx="2598616" cy="5605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500">
                <a:solidFill>
                  <a:srgbClr val="273531"/>
                </a:solidFill>
                <a:ea typeface="+mn-lt"/>
                <a:cs typeface="+mn-lt"/>
              </a:rPr>
              <a:t>Soft, breathable materials for </a:t>
            </a:r>
            <a:endParaRPr lang="en-US">
              <a:solidFill>
                <a:srgbClr val="273531"/>
              </a:solidFill>
              <a:ea typeface="+mn-lt"/>
              <a:cs typeface="+mn-lt"/>
            </a:endParaRPr>
          </a:p>
          <a:p>
            <a:r>
              <a:rPr lang="en-US" sz="1500">
                <a:solidFill>
                  <a:srgbClr val="273531"/>
                </a:solidFill>
                <a:ea typeface="+mn-lt"/>
                <a:cs typeface="+mn-lt"/>
              </a:rPr>
              <a:t>delicate skin</a:t>
            </a:r>
            <a:r>
              <a:rPr lang="en-US" sz="1500" b="0" i="0" u="none" strike="noStrike" baseline="0">
                <a:solidFill>
                  <a:srgbClr val="273531"/>
                </a:solidFill>
                <a:ea typeface="+mn-lt"/>
                <a:cs typeface="+mn-lt"/>
              </a:rPr>
              <a:t>.</a:t>
            </a:r>
            <a:endParaRPr lang="en-US">
              <a:solidFill>
                <a:srgbClr val="273531"/>
              </a:solidFill>
              <a:ea typeface="+mn-lt"/>
              <a:cs typeface="+mn-lt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BB6088E-DEF3-3607-F5FD-B222374D9C18}"/>
              </a:ext>
            </a:extLst>
          </p:cNvPr>
          <p:cNvSpPr txBox="1"/>
          <p:nvPr/>
        </p:nvSpPr>
        <p:spPr>
          <a:xfrm>
            <a:off x="358205" y="4738078"/>
            <a:ext cx="2598616" cy="5605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500">
                <a:solidFill>
                  <a:srgbClr val="2F4039"/>
                </a:solidFill>
                <a:ea typeface="+mn-lt"/>
                <a:cs typeface="+mn-lt"/>
              </a:rPr>
              <a:t>Ventilation that helps reduce heat build-up</a:t>
            </a:r>
            <a:r>
              <a:rPr lang="en-US" sz="1500" b="0" i="0" u="none" strike="noStrike" baseline="0">
                <a:solidFill>
                  <a:srgbClr val="2F4039"/>
                </a:solidFill>
                <a:ea typeface="+mn-lt"/>
                <a:cs typeface="+mn-lt"/>
              </a:rPr>
              <a:t>.</a:t>
            </a:r>
            <a:endParaRPr lang="en-US">
              <a:solidFill>
                <a:srgbClr val="2F4039"/>
              </a:solidFill>
              <a:ea typeface="+mn-lt"/>
              <a:cs typeface="+mn-lt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D8EAD08-8945-9FC0-6437-F07535818AC9}"/>
              </a:ext>
            </a:extLst>
          </p:cNvPr>
          <p:cNvSpPr txBox="1"/>
          <p:nvPr/>
        </p:nvSpPr>
        <p:spPr>
          <a:xfrm>
            <a:off x="8642513" y="4503616"/>
            <a:ext cx="2598616" cy="3231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500">
                <a:solidFill>
                  <a:srgbClr val="2F4039"/>
                </a:solidFill>
                <a:ea typeface="+mn-lt"/>
                <a:cs typeface="+mn-lt"/>
              </a:rPr>
              <a:t>Less friction, more flexible</a:t>
            </a:r>
            <a:r>
              <a:rPr lang="en-US" sz="1500" b="0" i="0" u="none" strike="noStrike" baseline="0">
                <a:solidFill>
                  <a:srgbClr val="2F4039"/>
                </a:solidFill>
                <a:ea typeface="+mn-lt"/>
                <a:cs typeface="+mn-lt"/>
              </a:rPr>
              <a:t>.</a:t>
            </a:r>
            <a:endParaRPr lang="en-US">
              <a:solidFill>
                <a:srgbClr val="2F4039"/>
              </a:solidFill>
              <a:ea typeface="+mn-lt"/>
              <a:cs typeface="+mn-lt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E70B9BE-FA46-F730-4918-452CCF84FFBC}"/>
              </a:ext>
            </a:extLst>
          </p:cNvPr>
          <p:cNvSpPr txBox="1"/>
          <p:nvPr/>
        </p:nvSpPr>
        <p:spPr>
          <a:xfrm>
            <a:off x="6408615" y="6183924"/>
            <a:ext cx="3744872" cy="3231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500" dirty="0">
                <a:solidFill>
                  <a:srgbClr val="273531"/>
                </a:solidFill>
                <a:ea typeface="+mn-lt"/>
                <a:cs typeface="+mn-lt"/>
              </a:rPr>
              <a:t>Prepared </a:t>
            </a:r>
            <a:r>
              <a:rPr lang="en-US" sz="1500">
                <a:solidFill>
                  <a:srgbClr val="273531"/>
                </a:solidFill>
                <a:ea typeface="+mn-lt"/>
                <a:cs typeface="+mn-lt"/>
              </a:rPr>
              <a:t>life for</a:t>
            </a:r>
            <a:r>
              <a:rPr lang="en-US" sz="1500" dirty="0">
                <a:solidFill>
                  <a:srgbClr val="273531"/>
                </a:solidFill>
                <a:ea typeface="+mn-lt"/>
                <a:cs typeface="+mn-lt"/>
              </a:rPr>
              <a:t> the nature</a:t>
            </a:r>
          </a:p>
        </p:txBody>
      </p:sp>
    </p:spTree>
    <p:extLst>
      <p:ext uri="{BB962C8B-B14F-4D97-AF65-F5344CB8AC3E}">
        <p14:creationId xmlns:p14="http://schemas.microsoft.com/office/powerpoint/2010/main" val="11835717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14AC33-5800-A20E-E4D4-8B5F711A52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5B13D53-CD69-1DA0-0AD8-E5C280657555}"/>
              </a:ext>
            </a:extLst>
          </p:cNvPr>
          <p:cNvSpPr>
            <a:spLocks noGrp="1"/>
          </p:cNvSpPr>
          <p:nvPr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rgbClr val="F8F3E0"/>
          </a:solidFill>
          <a:ln w="57150">
            <a:solidFill>
              <a:srgbClr val="C3DDD4"/>
            </a:solidFill>
            <a:prstDash val="solid"/>
          </a:ln>
        </p:spPr>
      </p:sp>
      <p:pic>
        <p:nvPicPr>
          <p:cNvPr id="7" name="Picture 6" descr="A diagram of a baby diaper&#10;&#10;AI-generated content may be incorrect.">
            <a:extLst>
              <a:ext uri="{FF2B5EF4-FFF2-40B4-BE49-F238E27FC236}">
                <a16:creationId xmlns:a16="http://schemas.microsoft.com/office/drawing/2014/main" id="{5E5256C8-58EC-2D2C-1706-697CF391C70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10" t="12436" r="1671" b="3486"/>
          <a:stretch>
            <a:fillRect/>
          </a:stretch>
        </p:blipFill>
        <p:spPr>
          <a:xfrm>
            <a:off x="-6626" y="2082300"/>
            <a:ext cx="12211886" cy="4772212"/>
          </a:xfrm>
          <a:prstGeom prst="rect">
            <a:avLst/>
          </a:prstGeom>
        </p:spPr>
      </p:pic>
      <p:sp>
        <p:nvSpPr>
          <p:cNvPr id="2" name="kicker-10-marker">
            <a:extLst>
              <a:ext uri="{FF2B5EF4-FFF2-40B4-BE49-F238E27FC236}">
                <a16:creationId xmlns:a16="http://schemas.microsoft.com/office/drawing/2014/main" id="{1A455D04-D96A-4904-4A87-30F8F88A9A75}"/>
              </a:ext>
            </a:extLst>
          </p:cNvPr>
          <p:cNvSpPr>
            <a:spLocks noGrp="1"/>
          </p:cNvSpPr>
          <p:nvPr/>
        </p:nvSpPr>
        <p:spPr>
          <a:xfrm>
            <a:off x="666750" y="533400"/>
            <a:ext cx="209550" cy="19050"/>
          </a:xfrm>
          <a:prstGeom prst="rect">
            <a:avLst/>
          </a:prstGeom>
          <a:solidFill>
            <a:srgbClr val="60786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0-label">
            <a:extLst>
              <a:ext uri="{FF2B5EF4-FFF2-40B4-BE49-F238E27FC236}">
                <a16:creationId xmlns:a16="http://schemas.microsoft.com/office/drawing/2014/main" id="{F19B8A9F-CA33-A46F-59B8-06F1EE0840AB}"/>
              </a:ext>
            </a:extLst>
          </p:cNvPr>
          <p:cNvSpPr>
            <a:spLocks noGrp="1"/>
          </p:cNvSpPr>
          <p:nvPr/>
        </p:nvSpPr>
        <p:spPr>
          <a:xfrm>
            <a:off x="990600" y="457200"/>
            <a:ext cx="2476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>
              <a:defRPr sz="750" b="1">
                <a:solidFill>
                  <a:srgbClr val="607862"/>
                </a:solidFill>
                <a:latin typeface="Aptos"/>
                <a:ea typeface="Aptos"/>
                <a:cs typeface="Aptos"/>
              </a:defRPr>
            </a:pPr>
            <a:r>
              <a:rPr lang="en-US" sz="750" b="1">
                <a:solidFill>
                  <a:srgbClr val="607862"/>
                </a:solidFill>
                <a:latin typeface="Aptos"/>
              </a:rPr>
              <a:t>CLEANER JOURNEYS</a:t>
            </a:r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1CCB817-137F-FB77-80A4-D69E27FD27E3}"/>
              </a:ext>
            </a:extLst>
          </p:cNvPr>
          <p:cNvSpPr>
            <a:spLocks noGrp="1"/>
          </p:cNvSpPr>
          <p:nvPr/>
        </p:nvSpPr>
        <p:spPr>
          <a:xfrm>
            <a:off x="666750" y="876300"/>
            <a:ext cx="8096250" cy="933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3150" b="1">
                <a:solidFill>
                  <a:srgbClr val="24322D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US" sz="3150" dirty="0">
                <a:solidFill>
                  <a:srgbClr val="24322D"/>
                </a:solidFill>
                <a:ea typeface="+mn-lt"/>
                <a:cs typeface="+mn-lt"/>
              </a:rPr>
              <a:t>Signature Innovation — </a:t>
            </a:r>
            <a:r>
              <a:rPr lang="en-US" sz="3150" dirty="0" err="1">
                <a:solidFill>
                  <a:srgbClr val="24322D"/>
                </a:solidFill>
                <a:ea typeface="+mn-lt"/>
                <a:cs typeface="+mn-lt"/>
              </a:rPr>
              <a:t>EcoCarry</a:t>
            </a:r>
            <a:r>
              <a:rPr lang="en-US" sz="3150" dirty="0">
                <a:solidFill>
                  <a:srgbClr val="24322D"/>
                </a:solidFill>
                <a:ea typeface="+mn-lt"/>
                <a:cs typeface="+mn-lt"/>
              </a:rPr>
              <a:t>™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6CDC3ED-C2B0-DF38-7513-8E76E6C64F1F}"/>
              </a:ext>
            </a:extLst>
          </p:cNvPr>
          <p:cNvSpPr>
            <a:spLocks noGrp="1"/>
          </p:cNvSpPr>
          <p:nvPr/>
        </p:nvSpPr>
        <p:spPr>
          <a:xfrm>
            <a:off x="667062" y="1712939"/>
            <a:ext cx="5905500" cy="373193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1500" b="0">
                <a:solidFill>
                  <a:srgbClr val="52635A"/>
                </a:solidFill>
                <a:latin typeface="Aptos"/>
                <a:ea typeface="Aptos"/>
                <a:cs typeface="Aptos"/>
              </a:defRPr>
            </a:pPr>
            <a:r>
              <a:rPr lang="en-US">
                <a:ea typeface="+mn-lt"/>
                <a:cs typeface="+mn-lt"/>
              </a:rPr>
              <a:t>Designed to easy dispose.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DDD95D4-4A12-0538-BF9C-2E824664CD79}"/>
              </a:ext>
            </a:extLst>
          </p:cNvPr>
          <p:cNvSpPr>
            <a:spLocks noGrp="1"/>
          </p:cNvSpPr>
          <p:nvPr/>
        </p:nvSpPr>
        <p:spPr>
          <a:xfrm>
            <a:off x="11623813" y="6525867"/>
            <a:ext cx="304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60786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07862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pic>
        <p:nvPicPr>
          <p:cNvPr id="13" name="Picture 12" descr="A white surface with black spots&#10;&#10;AI-generated content may be incorrect.">
            <a:extLst>
              <a:ext uri="{FF2B5EF4-FFF2-40B4-BE49-F238E27FC236}">
                <a16:creationId xmlns:a16="http://schemas.microsoft.com/office/drawing/2014/main" id="{B8AB2A5F-4065-2298-9669-B4290713D7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6242" y="4461013"/>
            <a:ext cx="759516" cy="619538"/>
          </a:xfrm>
          <a:prstGeom prst="rect">
            <a:avLst/>
          </a:prstGeom>
        </p:spPr>
      </p:pic>
      <p:pic>
        <p:nvPicPr>
          <p:cNvPr id="14" name="Picture 13" descr="A white surface with black spots&#10;&#10;AI-generated content may be incorrect.">
            <a:extLst>
              <a:ext uri="{FF2B5EF4-FFF2-40B4-BE49-F238E27FC236}">
                <a16:creationId xmlns:a16="http://schemas.microsoft.com/office/drawing/2014/main" id="{AE57F900-F964-FC33-A237-10EEFFB088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1527" y="4328491"/>
            <a:ext cx="328822" cy="771937"/>
          </a:xfrm>
          <a:prstGeom prst="rect">
            <a:avLst/>
          </a:prstGeom>
        </p:spPr>
      </p:pic>
      <p:pic>
        <p:nvPicPr>
          <p:cNvPr id="12" name="Picture 11" descr="A blue arrow in a circle&#10;&#10;AI-generated content may be incorrect.">
            <a:extLst>
              <a:ext uri="{FF2B5EF4-FFF2-40B4-BE49-F238E27FC236}">
                <a16:creationId xmlns:a16="http://schemas.microsoft.com/office/drawing/2014/main" id="{C11CE74B-7BD2-52EE-558F-106918CEFD8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665" t="7169" r="3614" b="2941"/>
          <a:stretch>
            <a:fillRect/>
          </a:stretch>
        </p:blipFill>
        <p:spPr>
          <a:xfrm rot="16200000">
            <a:off x="5790891" y="4400558"/>
            <a:ext cx="635826" cy="731197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C2DF5624-7F62-E3EF-FF8B-598D412048FA}"/>
              </a:ext>
            </a:extLst>
          </p:cNvPr>
          <p:cNvSpPr>
            <a:spLocks noGrp="1"/>
          </p:cNvSpPr>
          <p:nvPr/>
        </p:nvSpPr>
        <p:spPr>
          <a:xfrm>
            <a:off x="1945896" y="2368921"/>
            <a:ext cx="5905500" cy="373193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1500" b="0">
                <a:solidFill>
                  <a:srgbClr val="52635A"/>
                </a:solidFill>
                <a:latin typeface="Aptos"/>
                <a:ea typeface="Aptos"/>
                <a:cs typeface="Aptos"/>
              </a:defRPr>
            </a:pPr>
            <a:endParaRPr lang="en-US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968152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DF64591B-EDB5-4103-AF4C-A3FDF93C7F8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7-marker">
            <a:extLst>
              <a:ext uri="{FF2B5EF4-FFF2-40B4-BE49-F238E27FC236}">
                <a16:creationId xmlns:a16="http://schemas.microsoft.com/office/drawing/2014/main" id="{0D9D2187-488E-45FD-BA7C-A3A2379A2BA8}"/>
              </a:ext>
            </a:extLst>
          </p:cNvPr>
          <p:cNvSpPr>
            <a:spLocks noGrp="1"/>
          </p:cNvSpPr>
          <p:nvPr/>
        </p:nvSpPr>
        <p:spPr>
          <a:xfrm>
            <a:off x="666750" y="533400"/>
            <a:ext cx="209550" cy="19050"/>
          </a:xfrm>
          <a:prstGeom prst="rect">
            <a:avLst/>
          </a:prstGeom>
          <a:solidFill>
            <a:srgbClr val="60786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7-label">
            <a:extLst>
              <a:ext uri="{FF2B5EF4-FFF2-40B4-BE49-F238E27FC236}">
                <a16:creationId xmlns:a16="http://schemas.microsoft.com/office/drawing/2014/main" id="{60D6E066-4B74-4CFD-BB14-E96625713901}"/>
              </a:ext>
            </a:extLst>
          </p:cNvPr>
          <p:cNvSpPr>
            <a:spLocks noGrp="1"/>
          </p:cNvSpPr>
          <p:nvPr/>
        </p:nvSpPr>
        <p:spPr>
          <a:xfrm>
            <a:off x="990600" y="457200"/>
            <a:ext cx="2476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750" b="1">
                <a:solidFill>
                  <a:srgbClr val="60786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07862"/>
                </a:solidFill>
                <a:latin typeface="Aptos"/>
                <a:ea typeface="Aptos"/>
                <a:cs typeface="Aptos"/>
              </a:rPr>
              <a:t>POSITIONING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EE9B9ED-645A-492B-9188-8BA23EFAC310}"/>
              </a:ext>
            </a:extLst>
          </p:cNvPr>
          <p:cNvSpPr>
            <a:spLocks noGrp="1"/>
          </p:cNvSpPr>
          <p:nvPr/>
        </p:nvSpPr>
        <p:spPr>
          <a:xfrm>
            <a:off x="666750" y="876300"/>
            <a:ext cx="809625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24322D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4322D"/>
                </a:solidFill>
                <a:latin typeface="Aptos Display"/>
                <a:ea typeface="Aptos Display"/>
                <a:cs typeface="Aptos Display"/>
              </a:rPr>
              <a:t>Luvia chooses the skin-health and climate-specific axis.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D500E62-452E-4EBC-A1C5-7636DAE787B8}"/>
              </a:ext>
            </a:extLst>
          </p:cNvPr>
          <p:cNvSpPr>
            <a:spLocks noGrp="1"/>
          </p:cNvSpPr>
          <p:nvPr/>
        </p:nvSpPr>
        <p:spPr>
          <a:xfrm>
            <a:off x="685800" y="1943100"/>
            <a:ext cx="64770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52635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2635A"/>
                </a:solidFill>
                <a:latin typeface="Aptos"/>
                <a:ea typeface="Aptos"/>
                <a:cs typeface="Aptos"/>
              </a:rPr>
              <a:t>The brand should not fight the absorbency war. It should own comfort in hot, humid life.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0C8068-5D8B-4456-B701-097482582CA4}"/>
              </a:ext>
            </a:extLst>
          </p:cNvPr>
          <p:cNvSpPr>
            <a:spLocks noGrp="1"/>
          </p:cNvSpPr>
          <p:nvPr/>
        </p:nvSpPr>
        <p:spPr>
          <a:xfrm>
            <a:off x="1809750" y="3143250"/>
            <a:ext cx="8096250" cy="2381250"/>
          </a:xfrm>
          <a:prstGeom prst="rect">
            <a:avLst/>
          </a:prstGeom>
          <a:solidFill>
            <a:srgbClr val="FFFFFF"/>
          </a:solidFill>
          <a:ln w="9525">
            <a:solidFill>
              <a:srgbClr val="CAD8C7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9B7F7C7-B618-4ADC-A2FC-68AA2345DFD3}"/>
              </a:ext>
            </a:extLst>
          </p:cNvPr>
          <p:cNvSpPr>
            <a:spLocks noGrp="1"/>
          </p:cNvSpPr>
          <p:nvPr/>
        </p:nvSpPr>
        <p:spPr>
          <a:xfrm>
            <a:off x="5857875" y="3143250"/>
            <a:ext cx="9525" cy="2381250"/>
          </a:xfrm>
          <a:prstGeom prst="rect">
            <a:avLst/>
          </a:prstGeom>
          <a:solidFill>
            <a:srgbClr val="CAD8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5CFC5DD-58D1-4892-B7CC-14C7F21FED8D}"/>
              </a:ext>
            </a:extLst>
          </p:cNvPr>
          <p:cNvSpPr>
            <a:spLocks noGrp="1"/>
          </p:cNvSpPr>
          <p:nvPr/>
        </p:nvSpPr>
        <p:spPr>
          <a:xfrm>
            <a:off x="1809750" y="4333875"/>
            <a:ext cx="8096250" cy="9525"/>
          </a:xfrm>
          <a:prstGeom prst="rect">
            <a:avLst/>
          </a:prstGeom>
          <a:solidFill>
            <a:srgbClr val="CAD8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634983A-8D6F-477E-9AB9-87ED99D6C5FC}"/>
              </a:ext>
            </a:extLst>
          </p:cNvPr>
          <p:cNvSpPr>
            <a:spLocks noGrp="1"/>
          </p:cNvSpPr>
          <p:nvPr/>
        </p:nvSpPr>
        <p:spPr>
          <a:xfrm>
            <a:off x="1943100" y="5695950"/>
            <a:ext cx="1524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2635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35A"/>
                </a:solidFill>
                <a:latin typeface="Aptos"/>
                <a:ea typeface="Aptos"/>
                <a:cs typeface="Aptos"/>
              </a:rPr>
              <a:t>Absorbency-led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E473609-D84F-4504-B760-A85050C79AED}"/>
              </a:ext>
            </a:extLst>
          </p:cNvPr>
          <p:cNvSpPr>
            <a:spLocks noGrp="1"/>
          </p:cNvSpPr>
          <p:nvPr/>
        </p:nvSpPr>
        <p:spPr>
          <a:xfrm>
            <a:off x="8172450" y="5695950"/>
            <a:ext cx="1619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60786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07862"/>
                </a:solidFill>
                <a:latin typeface="Aptos"/>
                <a:ea typeface="Aptos"/>
                <a:cs typeface="Aptos"/>
              </a:rPr>
              <a:t>Skin-environment led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72D381F-E8F5-40FA-A21C-435C468C1574}"/>
              </a:ext>
            </a:extLst>
          </p:cNvPr>
          <p:cNvSpPr>
            <a:spLocks noGrp="1"/>
          </p:cNvSpPr>
          <p:nvPr/>
        </p:nvSpPr>
        <p:spPr>
          <a:xfrm>
            <a:off x="400878" y="5257800"/>
            <a:ext cx="952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2635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35A"/>
                </a:solidFill>
                <a:latin typeface="Aptos"/>
                <a:ea typeface="Aptos"/>
                <a:cs typeface="Aptos"/>
              </a:rPr>
              <a:t>Climate generic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247653E-1172-4830-BE4F-8F5ED05DC9F5}"/>
              </a:ext>
            </a:extLst>
          </p:cNvPr>
          <p:cNvSpPr>
            <a:spLocks noGrp="1"/>
          </p:cNvSpPr>
          <p:nvPr/>
        </p:nvSpPr>
        <p:spPr>
          <a:xfrm>
            <a:off x="258417" y="3257550"/>
            <a:ext cx="1028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60786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07862"/>
                </a:solidFill>
                <a:latin typeface="Aptos"/>
                <a:ea typeface="Aptos"/>
                <a:cs typeface="Aptos"/>
              </a:rPr>
              <a:t>Climate specific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B1B467C-4043-475A-B0FE-A12B07DC737C}"/>
              </a:ext>
            </a:extLst>
          </p:cNvPr>
          <p:cNvSpPr>
            <a:spLocks noGrp="1"/>
          </p:cNvSpPr>
          <p:nvPr/>
        </p:nvSpPr>
        <p:spPr>
          <a:xfrm>
            <a:off x="3144078" y="4699552"/>
            <a:ext cx="1281319" cy="454716"/>
          </a:xfrm>
          <a:prstGeom prst="rect">
            <a:avLst/>
          </a:prstGeom>
          <a:solidFill>
            <a:srgbClr val="E9DDCA"/>
          </a:solidFill>
          <a:ln w="9525">
            <a:solidFill>
              <a:srgbClr val="CAD8C7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563CA0F-39F8-4E74-AC55-8937B1A3C182}"/>
              </a:ext>
            </a:extLst>
          </p:cNvPr>
          <p:cNvSpPr>
            <a:spLocks noGrp="1"/>
          </p:cNvSpPr>
          <p:nvPr/>
        </p:nvSpPr>
        <p:spPr>
          <a:xfrm>
            <a:off x="3233530" y="4733097"/>
            <a:ext cx="857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0">
                <a:solidFill>
                  <a:srgbClr val="52635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35A"/>
                </a:solidFill>
                <a:latin typeface="Aptos"/>
                <a:ea typeface="Aptos"/>
                <a:cs typeface="Aptos"/>
              </a:rPr>
              <a:t>Low-price</a:t>
            </a:r>
          </a:p>
          <a:p>
            <a:pPr algn="ctr">
              <a:defRPr sz="900" b="0">
                <a:solidFill>
                  <a:srgbClr val="52635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35A"/>
                </a:solidFill>
                <a:latin typeface="Aptos"/>
                <a:ea typeface="Aptos"/>
                <a:cs typeface="Aptos"/>
              </a:rPr>
              <a:t>private label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28322F3-01DC-4374-B28B-D07851A8675D}"/>
              </a:ext>
            </a:extLst>
          </p:cNvPr>
          <p:cNvSpPr>
            <a:spLocks noGrp="1"/>
          </p:cNvSpPr>
          <p:nvPr/>
        </p:nvSpPr>
        <p:spPr>
          <a:xfrm>
            <a:off x="3137866" y="3449707"/>
            <a:ext cx="1201806" cy="540854"/>
          </a:xfrm>
          <a:prstGeom prst="rect">
            <a:avLst/>
          </a:prstGeom>
          <a:solidFill>
            <a:srgbClr val="DDE8DB"/>
          </a:solidFill>
          <a:ln w="9525">
            <a:solidFill>
              <a:srgbClr val="CAD8C7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717744F-4099-4BDF-A497-D5ED6BD40266}"/>
              </a:ext>
            </a:extLst>
          </p:cNvPr>
          <p:cNvSpPr>
            <a:spLocks noGrp="1"/>
          </p:cNvSpPr>
          <p:nvPr/>
        </p:nvSpPr>
        <p:spPr>
          <a:xfrm>
            <a:off x="3207440" y="3542886"/>
            <a:ext cx="857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0">
                <a:solidFill>
                  <a:srgbClr val="52635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35A"/>
                </a:solidFill>
                <a:latin typeface="Aptos"/>
                <a:ea typeface="Aptos"/>
                <a:cs typeface="Aptos"/>
              </a:rPr>
              <a:t>Absorbency</a:t>
            </a:r>
          </a:p>
          <a:p>
            <a:pPr algn="ctr">
              <a:defRPr sz="900" b="0">
                <a:solidFill>
                  <a:srgbClr val="52635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35A"/>
                </a:solidFill>
                <a:latin typeface="Aptos"/>
                <a:ea typeface="Aptos"/>
                <a:cs typeface="Aptos"/>
              </a:rPr>
              <a:t>leaders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94D3490-3702-4DD9-AE42-1F93CBB230A8}"/>
              </a:ext>
            </a:extLst>
          </p:cNvPr>
          <p:cNvSpPr>
            <a:spLocks noGrp="1"/>
          </p:cNvSpPr>
          <p:nvPr/>
        </p:nvSpPr>
        <p:spPr>
          <a:xfrm>
            <a:off x="7191375" y="4743450"/>
            <a:ext cx="1009650" cy="514350"/>
          </a:xfrm>
          <a:prstGeom prst="rect">
            <a:avLst/>
          </a:prstGeom>
          <a:solidFill>
            <a:srgbClr val="F1E8DA"/>
          </a:solidFill>
          <a:ln w="9525">
            <a:solidFill>
              <a:srgbClr val="CAD8C7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CDFFECF-A115-4E8A-AD96-49BCDF5B6213}"/>
              </a:ext>
            </a:extLst>
          </p:cNvPr>
          <p:cNvSpPr>
            <a:spLocks noGrp="1"/>
          </p:cNvSpPr>
          <p:nvPr/>
        </p:nvSpPr>
        <p:spPr>
          <a:xfrm>
            <a:off x="7267575" y="4810125"/>
            <a:ext cx="857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0">
                <a:solidFill>
                  <a:srgbClr val="52635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35A"/>
                </a:solidFill>
                <a:latin typeface="Aptos"/>
                <a:ea typeface="Aptos"/>
                <a:cs typeface="Aptos"/>
              </a:rPr>
              <a:t>Eco-only</a:t>
            </a:r>
          </a:p>
          <a:p>
            <a:pPr algn="ctr">
              <a:defRPr sz="900" b="0">
                <a:solidFill>
                  <a:srgbClr val="52635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35A"/>
                </a:solidFill>
                <a:latin typeface="Aptos"/>
                <a:ea typeface="Aptos"/>
                <a:cs typeface="Aptos"/>
              </a:rPr>
              <a:t>niche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E2A43D5-C726-4633-B6EB-F7C2093CA182}"/>
              </a:ext>
            </a:extLst>
          </p:cNvPr>
          <p:cNvSpPr>
            <a:spLocks noGrp="1"/>
          </p:cNvSpPr>
          <p:nvPr/>
        </p:nvSpPr>
        <p:spPr>
          <a:xfrm>
            <a:off x="6798365" y="3411606"/>
            <a:ext cx="2200689" cy="710648"/>
          </a:xfrm>
          <a:prstGeom prst="rect">
            <a:avLst/>
          </a:prstGeom>
          <a:solidFill>
            <a:srgbClr val="24322D"/>
          </a:solidFill>
          <a:ln w="9525">
            <a:solidFill>
              <a:srgbClr val="24322D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CE3CD11-D3AE-4DDE-B2A2-6B258FFB0E18}"/>
              </a:ext>
            </a:extLst>
          </p:cNvPr>
          <p:cNvSpPr>
            <a:spLocks noGrp="1"/>
          </p:cNvSpPr>
          <p:nvPr/>
        </p:nvSpPr>
        <p:spPr>
          <a:xfrm>
            <a:off x="7103165" y="3531704"/>
            <a:ext cx="762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0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Luvia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F69F7F5-A9E2-4861-88BA-367850F61BCF}"/>
              </a:ext>
            </a:extLst>
          </p:cNvPr>
          <p:cNvSpPr>
            <a:spLocks noGrp="1"/>
          </p:cNvSpPr>
          <p:nvPr/>
        </p:nvSpPr>
        <p:spPr>
          <a:xfrm>
            <a:off x="6969815" y="3855554"/>
            <a:ext cx="10287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0">
                <a:solidFill>
                  <a:srgbClr val="DDE8D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DDE8DB"/>
                </a:solidFill>
                <a:latin typeface="Aptos"/>
                <a:ea typeface="Aptos"/>
                <a:cs typeface="Aptos"/>
              </a:rPr>
              <a:t>comfort in tropical life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795D58F-8A4E-487C-91A1-C8F541AEEE25}"/>
              </a:ext>
            </a:extLst>
          </p:cNvPr>
          <p:cNvSpPr>
            <a:spLocks noGrp="1"/>
          </p:cNvSpPr>
          <p:nvPr/>
        </p:nvSpPr>
        <p:spPr>
          <a:xfrm>
            <a:off x="11239500" y="6419850"/>
            <a:ext cx="304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60786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07862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20947412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29A18ED0-7794-4BE6-8FE1-1B692FBA25B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2-marker">
            <a:extLst>
              <a:ext uri="{FF2B5EF4-FFF2-40B4-BE49-F238E27FC236}">
                <a16:creationId xmlns:a16="http://schemas.microsoft.com/office/drawing/2014/main" id="{5F408AD1-14C1-4D30-B9BD-3CA7C795E6C9}"/>
              </a:ext>
            </a:extLst>
          </p:cNvPr>
          <p:cNvSpPr>
            <a:spLocks noGrp="1"/>
          </p:cNvSpPr>
          <p:nvPr/>
        </p:nvSpPr>
        <p:spPr>
          <a:xfrm>
            <a:off x="666750" y="533400"/>
            <a:ext cx="209550" cy="19050"/>
          </a:xfrm>
          <a:prstGeom prst="rect">
            <a:avLst/>
          </a:prstGeom>
          <a:solidFill>
            <a:srgbClr val="60786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2-label">
            <a:extLst>
              <a:ext uri="{FF2B5EF4-FFF2-40B4-BE49-F238E27FC236}">
                <a16:creationId xmlns:a16="http://schemas.microsoft.com/office/drawing/2014/main" id="{64D103E3-AFAC-4235-B7DF-510AD5451932}"/>
              </a:ext>
            </a:extLst>
          </p:cNvPr>
          <p:cNvSpPr>
            <a:spLocks noGrp="1"/>
          </p:cNvSpPr>
          <p:nvPr/>
        </p:nvSpPr>
        <p:spPr>
          <a:xfrm>
            <a:off x="990600" y="457200"/>
            <a:ext cx="2476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750" b="1">
                <a:solidFill>
                  <a:srgbClr val="60786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07862"/>
                </a:solidFill>
                <a:latin typeface="Aptos"/>
                <a:ea typeface="Aptos"/>
                <a:cs typeface="Aptos"/>
              </a:rPr>
              <a:t>CUSTOMER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FB4D843-5E0B-4C9B-A5CD-1E37501E31E3}"/>
              </a:ext>
            </a:extLst>
          </p:cNvPr>
          <p:cNvSpPr>
            <a:spLocks noGrp="1"/>
          </p:cNvSpPr>
          <p:nvPr/>
        </p:nvSpPr>
        <p:spPr>
          <a:xfrm>
            <a:off x="666750" y="876300"/>
            <a:ext cx="80010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24322D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4322D"/>
                </a:solidFill>
                <a:latin typeface="Aptos Display"/>
                <a:ea typeface="Aptos Display"/>
                <a:cs typeface="Aptos Display"/>
              </a:rPr>
              <a:t>The first customer is careful, urban and already researching trust.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327C1C8-8446-4F63-8A96-24EE47BA2C28}"/>
              </a:ext>
            </a:extLst>
          </p:cNvPr>
          <p:cNvSpPr>
            <a:spLocks noGrp="1"/>
          </p:cNvSpPr>
          <p:nvPr/>
        </p:nvSpPr>
        <p:spPr>
          <a:xfrm>
            <a:off x="670408" y="1943100"/>
            <a:ext cx="9617360" cy="335781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1500" b="0">
                <a:solidFill>
                  <a:srgbClr val="52635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2635A"/>
                </a:solidFill>
                <a:latin typeface="Aptos"/>
                <a:ea typeface="Aptos"/>
                <a:cs typeface="Aptos"/>
              </a:rPr>
              <a:t>They are not just buying diapers. They are buying peace of mind</a:t>
            </a: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ED77FE1-9DC3-43AF-8C64-EDB59D611E29}"/>
              </a:ext>
            </a:extLst>
          </p:cNvPr>
          <p:cNvSpPr>
            <a:spLocks noGrp="1"/>
          </p:cNvSpPr>
          <p:nvPr/>
        </p:nvSpPr>
        <p:spPr>
          <a:xfrm>
            <a:off x="861290" y="2914650"/>
            <a:ext cx="3120160" cy="3094759"/>
          </a:xfrm>
          <a:prstGeom prst="rect">
            <a:avLst/>
          </a:prstGeom>
          <a:solidFill>
            <a:srgbClr val="FFFFFF"/>
          </a:solidFill>
          <a:ln w="9525">
            <a:solidFill>
              <a:srgbClr val="CAD8C7"/>
            </a:solidFill>
            <a:prstDash val="solid"/>
          </a:ln>
        </p:spPr>
      </p:sp>
      <p:pic>
        <p:nvPicPr>
          <p:cNvPr id="7" name="Graphic 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257300" y="3371850"/>
            <a:ext cx="609600" cy="6096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69A08384-CE13-4B7A-84D6-C75AAB3FB9B4}"/>
              </a:ext>
            </a:extLst>
          </p:cNvPr>
          <p:cNvSpPr>
            <a:spLocks noGrp="1"/>
          </p:cNvSpPr>
          <p:nvPr/>
        </p:nvSpPr>
        <p:spPr>
          <a:xfrm>
            <a:off x="1257300" y="4095750"/>
            <a:ext cx="21717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1575" b="1">
                <a:solidFill>
                  <a:srgbClr val="24322D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US" sz="1550" b="1" dirty="0">
                <a:solidFill>
                  <a:srgbClr val="24322D"/>
                </a:solidFill>
                <a:latin typeface="Aptos Display"/>
              </a:rPr>
              <a:t>Characteristics of Target </a:t>
            </a:r>
            <a:r>
              <a:rPr lang="en-US" sz="1550" b="1">
                <a:solidFill>
                  <a:srgbClr val="24322D"/>
                </a:solidFill>
                <a:latin typeface="Aptos Display"/>
              </a:rPr>
              <a:t>Audience / Customers</a:t>
            </a:r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3115EB6-7B7E-4603-B4BB-9E3D8693D12B}"/>
              </a:ext>
            </a:extLst>
          </p:cNvPr>
          <p:cNvSpPr>
            <a:spLocks noGrp="1"/>
          </p:cNvSpPr>
          <p:nvPr/>
        </p:nvSpPr>
        <p:spPr>
          <a:xfrm>
            <a:off x="1257300" y="4938183"/>
            <a:ext cx="2201333" cy="944033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marL="171450" indent="-171450">
              <a:buFont typeface="Wingdings"/>
              <a:buChar char="§"/>
              <a:defRPr sz="1125" b="0">
                <a:solidFill>
                  <a:srgbClr val="52635A"/>
                </a:solidFill>
                <a:latin typeface="Aptos"/>
                <a:ea typeface="Aptos"/>
                <a:cs typeface="Aptos"/>
              </a:defRPr>
            </a:pPr>
            <a:r>
              <a:rPr lang="en-US" sz="1100" dirty="0">
                <a:solidFill>
                  <a:srgbClr val="52635A"/>
                </a:solidFill>
                <a:latin typeface="Aptos"/>
                <a:ea typeface="Aptos"/>
                <a:cs typeface="Aptos"/>
              </a:rPr>
              <a:t>    </a:t>
            </a:r>
            <a:r>
              <a:rPr sz="1100" b="0">
                <a:solidFill>
                  <a:srgbClr val="52635A"/>
                </a:solidFill>
                <a:latin typeface="Aptos"/>
                <a:ea typeface="Aptos"/>
                <a:cs typeface="Aptos"/>
              </a:rPr>
              <a:t>Age 24-40</a:t>
            </a:r>
            <a:endParaRPr lang="en-US"/>
          </a:p>
          <a:p>
            <a:pPr marL="285750" indent="-285750">
              <a:buFont typeface="Wingdings"/>
              <a:buChar char="§"/>
              <a:defRPr sz="1125" b="0">
                <a:solidFill>
                  <a:srgbClr val="52635A"/>
                </a:solidFill>
                <a:latin typeface="Aptos"/>
                <a:ea typeface="Aptos"/>
                <a:cs typeface="Aptos"/>
              </a:defRPr>
            </a:pPr>
            <a:r>
              <a:rPr lang="en-US" sz="1100">
                <a:ea typeface="+mn-lt"/>
                <a:cs typeface="+mn-lt"/>
              </a:rPr>
              <a:t>Health-conscious parents</a:t>
            </a:r>
            <a:endParaRPr lang="en-US"/>
          </a:p>
          <a:p>
            <a:pPr marL="285750" indent="-285750">
              <a:buFont typeface="Wingdings"/>
              <a:buChar char="§"/>
              <a:defRPr sz="1125" b="0">
                <a:solidFill>
                  <a:srgbClr val="52635A"/>
                </a:solidFill>
                <a:latin typeface="Aptos"/>
                <a:ea typeface="Aptos"/>
                <a:cs typeface="Aptos"/>
              </a:defRPr>
            </a:pPr>
            <a:r>
              <a:rPr lang="en-US" sz="1100">
                <a:ea typeface="+mn-lt"/>
                <a:cs typeface="+mn-lt"/>
              </a:rPr>
              <a:t>Premium urban household</a:t>
            </a:r>
            <a:endParaRPr lang="en-US"/>
          </a:p>
          <a:p>
            <a:pPr marL="285750" indent="-285750">
              <a:buFont typeface="Wingdings"/>
              <a:buChar char="§"/>
              <a:defRPr sz="1125" b="0">
                <a:solidFill>
                  <a:srgbClr val="52635A"/>
                </a:solidFill>
                <a:latin typeface="Aptos"/>
                <a:ea typeface="Aptos"/>
                <a:cs typeface="Aptos"/>
              </a:defRPr>
            </a:pPr>
            <a:r>
              <a:rPr lang="en-US" sz="1100">
                <a:ea typeface="+mn-lt"/>
                <a:cs typeface="+mn-lt"/>
              </a:rPr>
              <a:t>Values safety and comfort</a:t>
            </a:r>
            <a:endParaRPr lang="en-US"/>
          </a:p>
          <a:p>
            <a:pPr marL="285750" indent="-285750">
              <a:buFont typeface="Wingdings"/>
              <a:buChar char="§"/>
              <a:defRPr sz="1125" b="0">
                <a:solidFill>
                  <a:srgbClr val="52635A"/>
                </a:solidFill>
                <a:latin typeface="Aptos"/>
                <a:ea typeface="Aptos"/>
                <a:cs typeface="Aptos"/>
              </a:defRPr>
            </a:pPr>
            <a:r>
              <a:rPr lang="en-US" sz="1100">
                <a:ea typeface="+mn-lt"/>
                <a:cs typeface="+mn-lt"/>
              </a:rPr>
              <a:t>Willing to pay for peace of mind</a:t>
            </a:r>
            <a:endParaRPr lang="en-US"/>
          </a:p>
          <a:p>
            <a:pPr>
              <a:defRPr sz="1125" b="0">
                <a:solidFill>
                  <a:srgbClr val="52635A"/>
                </a:solidFill>
                <a:latin typeface="Aptos"/>
                <a:ea typeface="Aptos"/>
                <a:cs typeface="Aptos"/>
              </a:defRPr>
            </a:pPr>
            <a:endParaRPr lang="en-US" sz="1100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3D272A2-4E17-4953-8AE1-A53309480B8A}"/>
              </a:ext>
            </a:extLst>
          </p:cNvPr>
          <p:cNvSpPr>
            <a:spLocks noGrp="1"/>
          </p:cNvSpPr>
          <p:nvPr/>
        </p:nvSpPr>
        <p:spPr>
          <a:xfrm>
            <a:off x="4876800" y="3524250"/>
            <a:ext cx="685800" cy="685800"/>
          </a:xfrm>
          <a:prstGeom prst="ellipse">
            <a:avLst/>
          </a:prstGeom>
          <a:solidFill>
            <a:srgbClr val="F1E8DA"/>
          </a:solidFill>
          <a:ln w="9525">
            <a:solidFill>
              <a:srgbClr val="CAD8C7"/>
            </a:solidFill>
            <a:prstDash val="solid"/>
          </a:ln>
        </p:spPr>
      </p:sp>
      <p:pic>
        <p:nvPicPr>
          <p:cNvPr id="11" name="Graphic 1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5061966" y="3709416"/>
            <a:ext cx="315468" cy="315468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989E9730-9045-4470-BC5A-917F402DD5B0}"/>
              </a:ext>
            </a:extLst>
          </p:cNvPr>
          <p:cNvSpPr>
            <a:spLocks noGrp="1"/>
          </p:cNvSpPr>
          <p:nvPr/>
        </p:nvSpPr>
        <p:spPr>
          <a:xfrm>
            <a:off x="4610100" y="4343400"/>
            <a:ext cx="12192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0">
                <a:solidFill>
                  <a:srgbClr val="24322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4322D"/>
                </a:solidFill>
                <a:latin typeface="Aptos"/>
                <a:ea typeface="Aptos"/>
                <a:cs typeface="Aptos"/>
              </a:rPr>
              <a:t>Notices irritation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91CADC4-7668-412D-8225-17046EA32270}"/>
              </a:ext>
            </a:extLst>
          </p:cNvPr>
          <p:cNvSpPr>
            <a:spLocks noGrp="1"/>
          </p:cNvSpPr>
          <p:nvPr/>
        </p:nvSpPr>
        <p:spPr>
          <a:xfrm>
            <a:off x="5619750" y="3867150"/>
            <a:ext cx="723900" cy="19050"/>
          </a:xfrm>
          <a:prstGeom prst="rect">
            <a:avLst/>
          </a:prstGeom>
          <a:solidFill>
            <a:srgbClr val="8FA78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523631B-EC24-4DED-A826-8CEC52662501}"/>
              </a:ext>
            </a:extLst>
          </p:cNvPr>
          <p:cNvSpPr>
            <a:spLocks noGrp="1"/>
          </p:cNvSpPr>
          <p:nvPr/>
        </p:nvSpPr>
        <p:spPr>
          <a:xfrm>
            <a:off x="6267450" y="3735917"/>
            <a:ext cx="2667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0">
                <a:solidFill>
                  <a:srgbClr val="8FA789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8FA789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69E96BA-26AD-422D-893B-194EA1E42531}"/>
              </a:ext>
            </a:extLst>
          </p:cNvPr>
          <p:cNvSpPr>
            <a:spLocks noGrp="1"/>
          </p:cNvSpPr>
          <p:nvPr/>
        </p:nvSpPr>
        <p:spPr>
          <a:xfrm>
            <a:off x="6515100" y="3524250"/>
            <a:ext cx="685800" cy="685800"/>
          </a:xfrm>
          <a:prstGeom prst="ellipse">
            <a:avLst/>
          </a:prstGeom>
          <a:solidFill>
            <a:srgbClr val="F1E8DA"/>
          </a:solidFill>
          <a:ln w="9525">
            <a:solidFill>
              <a:srgbClr val="CAD8C7"/>
            </a:solidFill>
            <a:prstDash val="solid"/>
          </a:ln>
        </p:spPr>
      </p:sp>
      <p:pic>
        <p:nvPicPr>
          <p:cNvPr id="16" name="Graphic 1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6700266" y="3709416"/>
            <a:ext cx="315468" cy="315468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E0061AA2-4C3F-4F5B-9319-30B07976A9EF}"/>
              </a:ext>
            </a:extLst>
          </p:cNvPr>
          <p:cNvSpPr>
            <a:spLocks noGrp="1"/>
          </p:cNvSpPr>
          <p:nvPr/>
        </p:nvSpPr>
        <p:spPr>
          <a:xfrm>
            <a:off x="6248400" y="4343400"/>
            <a:ext cx="12192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0">
                <a:solidFill>
                  <a:srgbClr val="24322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4322D"/>
                </a:solidFill>
                <a:latin typeface="Aptos"/>
                <a:ea typeface="Aptos"/>
                <a:cs typeface="Aptos"/>
              </a:rPr>
              <a:t>Searches ingredients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5ABDDD4-A2D3-4AF9-9664-5594CD394F7D}"/>
              </a:ext>
            </a:extLst>
          </p:cNvPr>
          <p:cNvSpPr>
            <a:spLocks noGrp="1"/>
          </p:cNvSpPr>
          <p:nvPr/>
        </p:nvSpPr>
        <p:spPr>
          <a:xfrm>
            <a:off x="7258050" y="3867150"/>
            <a:ext cx="723900" cy="19050"/>
          </a:xfrm>
          <a:prstGeom prst="rect">
            <a:avLst/>
          </a:prstGeom>
          <a:solidFill>
            <a:srgbClr val="8FA78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58D94B1-9C2E-45D7-A0D8-C18C9B913DCB}"/>
              </a:ext>
            </a:extLst>
          </p:cNvPr>
          <p:cNvSpPr>
            <a:spLocks noGrp="1"/>
          </p:cNvSpPr>
          <p:nvPr/>
        </p:nvSpPr>
        <p:spPr>
          <a:xfrm>
            <a:off x="7905750" y="3735917"/>
            <a:ext cx="2667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0">
                <a:solidFill>
                  <a:srgbClr val="8FA789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8FA789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4C5EED1E-C22D-45B2-A680-4FD6A9B8E06D}"/>
              </a:ext>
            </a:extLst>
          </p:cNvPr>
          <p:cNvSpPr>
            <a:spLocks noGrp="1"/>
          </p:cNvSpPr>
          <p:nvPr/>
        </p:nvSpPr>
        <p:spPr>
          <a:xfrm>
            <a:off x="8153400" y="3524250"/>
            <a:ext cx="685800" cy="685800"/>
          </a:xfrm>
          <a:prstGeom prst="ellipse">
            <a:avLst/>
          </a:prstGeom>
          <a:solidFill>
            <a:srgbClr val="F1E8DA"/>
          </a:solidFill>
          <a:ln w="9525">
            <a:solidFill>
              <a:srgbClr val="CAD8C7"/>
            </a:solidFill>
            <a:prstDash val="solid"/>
          </a:ln>
        </p:spPr>
      </p:sp>
      <p:pic>
        <p:nvPicPr>
          <p:cNvPr id="21" name="Graphic 2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8338566" y="3709416"/>
            <a:ext cx="315468" cy="315468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EE43B809-9DC0-4CDC-A695-0D85B5195DFA}"/>
              </a:ext>
            </a:extLst>
          </p:cNvPr>
          <p:cNvSpPr>
            <a:spLocks noGrp="1"/>
          </p:cNvSpPr>
          <p:nvPr/>
        </p:nvSpPr>
        <p:spPr>
          <a:xfrm>
            <a:off x="7886700" y="4343400"/>
            <a:ext cx="12192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0">
                <a:solidFill>
                  <a:srgbClr val="24322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4322D"/>
                </a:solidFill>
                <a:latin typeface="Aptos"/>
                <a:ea typeface="Aptos"/>
                <a:cs typeface="Aptos"/>
              </a:rPr>
              <a:t>Looks for proof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0377EB8-D9C8-41AE-A0D3-60F9B696D12B}"/>
              </a:ext>
            </a:extLst>
          </p:cNvPr>
          <p:cNvSpPr>
            <a:spLocks noGrp="1"/>
          </p:cNvSpPr>
          <p:nvPr/>
        </p:nvSpPr>
        <p:spPr>
          <a:xfrm>
            <a:off x="8896350" y="3867150"/>
            <a:ext cx="723900" cy="19050"/>
          </a:xfrm>
          <a:prstGeom prst="rect">
            <a:avLst/>
          </a:prstGeom>
          <a:solidFill>
            <a:srgbClr val="8FA78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3285A6F-CED8-4C80-B73B-36684872F4B3}"/>
              </a:ext>
            </a:extLst>
          </p:cNvPr>
          <p:cNvSpPr>
            <a:spLocks noGrp="1"/>
          </p:cNvSpPr>
          <p:nvPr/>
        </p:nvSpPr>
        <p:spPr>
          <a:xfrm>
            <a:off x="9544050" y="3735917"/>
            <a:ext cx="2667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0">
                <a:solidFill>
                  <a:srgbClr val="8FA789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8FA789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1A78EDCB-2158-4520-9E5E-6428DD9FB39F}"/>
              </a:ext>
            </a:extLst>
          </p:cNvPr>
          <p:cNvSpPr>
            <a:spLocks noGrp="1"/>
          </p:cNvSpPr>
          <p:nvPr/>
        </p:nvSpPr>
        <p:spPr>
          <a:xfrm>
            <a:off x="9791700" y="3524250"/>
            <a:ext cx="685800" cy="685800"/>
          </a:xfrm>
          <a:prstGeom prst="ellipse">
            <a:avLst/>
          </a:prstGeom>
          <a:solidFill>
            <a:srgbClr val="F1E8DA"/>
          </a:solidFill>
          <a:ln w="9525">
            <a:solidFill>
              <a:srgbClr val="CAD8C7"/>
            </a:solidFill>
            <a:prstDash val="solid"/>
          </a:ln>
        </p:spPr>
      </p:sp>
      <p:pic>
        <p:nvPicPr>
          <p:cNvPr id="26" name="Graphic 2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9976866" y="3709416"/>
            <a:ext cx="315468" cy="315468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8EBFAA33-BBD6-475D-93C8-75FB2D90BADD}"/>
              </a:ext>
            </a:extLst>
          </p:cNvPr>
          <p:cNvSpPr>
            <a:spLocks noGrp="1"/>
          </p:cNvSpPr>
          <p:nvPr/>
        </p:nvSpPr>
        <p:spPr>
          <a:xfrm>
            <a:off x="9525000" y="4343400"/>
            <a:ext cx="12192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0">
                <a:solidFill>
                  <a:srgbClr val="24322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4322D"/>
                </a:solidFill>
                <a:latin typeface="Aptos"/>
                <a:ea typeface="Aptos"/>
                <a:cs typeface="Aptos"/>
              </a:rPr>
              <a:t>Subscribes if trust holds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6172835-9619-48F4-9CBE-A6097FE7B3C2}"/>
              </a:ext>
            </a:extLst>
          </p:cNvPr>
          <p:cNvSpPr>
            <a:spLocks noGrp="1"/>
          </p:cNvSpPr>
          <p:nvPr/>
        </p:nvSpPr>
        <p:spPr>
          <a:xfrm>
            <a:off x="4914900" y="5219700"/>
            <a:ext cx="58102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607862"/>
                </a:solidFill>
                <a:latin typeface="Aptos Display"/>
                <a:ea typeface="Aptos Display"/>
                <a:cs typeface="Aptos Display"/>
              </a:defRPr>
            </a:pPr>
            <a:endParaRPr lang="en-US" sz="1650" b="1" dirty="0">
              <a:solidFill>
                <a:srgbClr val="607862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7CD213B-B398-4B3A-BE44-8AC854DC5003}"/>
              </a:ext>
            </a:extLst>
          </p:cNvPr>
          <p:cNvSpPr>
            <a:spLocks noGrp="1"/>
          </p:cNvSpPr>
          <p:nvPr/>
        </p:nvSpPr>
        <p:spPr>
          <a:xfrm>
            <a:off x="11239500" y="6419850"/>
            <a:ext cx="304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60786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07862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1312584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603ECCDD-DC93-4769-A220-47C630E779B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3-marker">
            <a:extLst>
              <a:ext uri="{FF2B5EF4-FFF2-40B4-BE49-F238E27FC236}">
                <a16:creationId xmlns:a16="http://schemas.microsoft.com/office/drawing/2014/main" id="{9C32A57E-B947-4076-BF0D-F0F7FEDF27C4}"/>
              </a:ext>
            </a:extLst>
          </p:cNvPr>
          <p:cNvSpPr>
            <a:spLocks noGrp="1"/>
          </p:cNvSpPr>
          <p:nvPr/>
        </p:nvSpPr>
        <p:spPr>
          <a:xfrm>
            <a:off x="666750" y="533400"/>
            <a:ext cx="209550" cy="19050"/>
          </a:xfrm>
          <a:prstGeom prst="rect">
            <a:avLst/>
          </a:prstGeom>
          <a:solidFill>
            <a:srgbClr val="60786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3-label">
            <a:extLst>
              <a:ext uri="{FF2B5EF4-FFF2-40B4-BE49-F238E27FC236}">
                <a16:creationId xmlns:a16="http://schemas.microsoft.com/office/drawing/2014/main" id="{565A6017-9423-40AD-888B-B496F2F0A573}"/>
              </a:ext>
            </a:extLst>
          </p:cNvPr>
          <p:cNvSpPr>
            <a:spLocks noGrp="1"/>
          </p:cNvSpPr>
          <p:nvPr/>
        </p:nvSpPr>
        <p:spPr>
          <a:xfrm>
            <a:off x="990600" y="457200"/>
            <a:ext cx="2476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750" b="1">
                <a:solidFill>
                  <a:srgbClr val="60786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07862"/>
                </a:solidFill>
                <a:latin typeface="Aptos"/>
                <a:ea typeface="Aptos"/>
                <a:cs typeface="Aptos"/>
              </a:rPr>
              <a:t>MARKET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3ED17A3-49B7-4D0D-A09B-4E366D1BB9F8}"/>
              </a:ext>
            </a:extLst>
          </p:cNvPr>
          <p:cNvSpPr>
            <a:spLocks noGrp="1"/>
          </p:cNvSpPr>
          <p:nvPr/>
        </p:nvSpPr>
        <p:spPr>
          <a:xfrm>
            <a:off x="666750" y="876300"/>
            <a:ext cx="64770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24322D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4322D"/>
                </a:solidFill>
                <a:latin typeface="Aptos Display"/>
                <a:ea typeface="Aptos Display"/>
                <a:cs typeface="Aptos Display"/>
              </a:rPr>
              <a:t>India offers scale before expansion.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7AC0996-4DDF-4D70-BCE0-65E76FC09F4F}"/>
              </a:ext>
            </a:extLst>
          </p:cNvPr>
          <p:cNvSpPr>
            <a:spLocks noGrp="1"/>
          </p:cNvSpPr>
          <p:nvPr/>
        </p:nvSpPr>
        <p:spPr>
          <a:xfrm>
            <a:off x="685800" y="1943100"/>
            <a:ext cx="59055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52635A"/>
                </a:solidFill>
                <a:latin typeface="Aptos"/>
                <a:ea typeface="Aptos"/>
                <a:cs typeface="Aptos"/>
              </a:defRPr>
            </a:pPr>
            <a:endParaRPr lang="en-US" sz="1500" b="0" dirty="0">
              <a:solidFill>
                <a:srgbClr val="52635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5C485DE-B7DF-4034-9CBE-540F1C921739}"/>
              </a:ext>
            </a:extLst>
          </p:cNvPr>
          <p:cNvSpPr>
            <a:spLocks noGrp="1"/>
          </p:cNvSpPr>
          <p:nvPr/>
        </p:nvSpPr>
        <p:spPr>
          <a:xfrm>
            <a:off x="990600" y="3048000"/>
            <a:ext cx="34290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850" b="1">
                <a:solidFill>
                  <a:srgbClr val="24322D"/>
                </a:solidFill>
                <a:latin typeface="Aptos Display"/>
                <a:ea typeface="Aptos Display"/>
                <a:cs typeface="Aptos Display"/>
              </a:defRPr>
            </a:pPr>
            <a:r>
              <a:rPr sz="5850" b="1">
                <a:solidFill>
                  <a:srgbClr val="24322D"/>
                </a:solidFill>
                <a:latin typeface="Aptos Display"/>
                <a:ea typeface="Aptos Display"/>
                <a:cs typeface="Aptos Display"/>
              </a:rPr>
              <a:t>23.2M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145DC1D-53A8-4BB9-BEF4-F4585F879495}"/>
              </a:ext>
            </a:extLst>
          </p:cNvPr>
          <p:cNvSpPr>
            <a:spLocks noGrp="1"/>
          </p:cNvSpPr>
          <p:nvPr/>
        </p:nvSpPr>
        <p:spPr>
          <a:xfrm>
            <a:off x="1066800" y="3905250"/>
            <a:ext cx="37147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52635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2635A"/>
                </a:solidFill>
                <a:latin typeface="Aptos"/>
                <a:ea typeface="Aptos"/>
                <a:cs typeface="Aptos"/>
              </a:rPr>
              <a:t>estimated births per year in India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885A565-9A8C-465F-B101-B2442CCEBB34}"/>
              </a:ext>
            </a:extLst>
          </p:cNvPr>
          <p:cNvSpPr>
            <a:spLocks noGrp="1"/>
          </p:cNvSpPr>
          <p:nvPr/>
        </p:nvSpPr>
        <p:spPr>
          <a:xfrm>
            <a:off x="981408" y="4500329"/>
            <a:ext cx="3933492" cy="440682"/>
          </a:xfrm>
          <a:prstGeom prst="rect">
            <a:avLst/>
          </a:prstGeom>
          <a:solidFill>
            <a:srgbClr val="F1E8DA"/>
          </a:solidFill>
          <a:ln w="9525">
            <a:solidFill>
              <a:srgbClr val="E9DDCA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1422988-5631-43BC-AD4C-CAFA3F9CED49}"/>
              </a:ext>
            </a:extLst>
          </p:cNvPr>
          <p:cNvSpPr>
            <a:spLocks noGrp="1"/>
          </p:cNvSpPr>
          <p:nvPr/>
        </p:nvSpPr>
        <p:spPr>
          <a:xfrm>
            <a:off x="1194021" y="4643138"/>
            <a:ext cx="2066193" cy="155464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825" b="0">
                <a:solidFill>
                  <a:srgbClr val="52635A"/>
                </a:solidFill>
                <a:latin typeface="Aptos"/>
                <a:ea typeface="Aptos"/>
                <a:cs typeface="Aptos"/>
              </a:defRPr>
            </a:pPr>
            <a:r>
              <a:rPr lang="en-US" sz="800" dirty="0">
                <a:solidFill>
                  <a:srgbClr val="52635A"/>
                </a:solidFill>
                <a:ea typeface="+mn-lt"/>
                <a:cs typeface="+mn-lt"/>
                <a:hlinkClick r:id="rId3"/>
              </a:rPr>
              <a:t>Source  :  UNICEF  India  2025</a:t>
            </a:r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C6BF624-06DA-4E30-8557-F8EDECDD9C7C}"/>
              </a:ext>
            </a:extLst>
          </p:cNvPr>
          <p:cNvSpPr>
            <a:spLocks noGrp="1"/>
          </p:cNvSpPr>
          <p:nvPr/>
        </p:nvSpPr>
        <p:spPr>
          <a:xfrm>
            <a:off x="6000750" y="2971800"/>
            <a:ext cx="4457700" cy="2171700"/>
          </a:xfrm>
          <a:prstGeom prst="rect">
            <a:avLst/>
          </a:prstGeom>
          <a:solidFill>
            <a:srgbClr val="FFFFFF"/>
          </a:solidFill>
          <a:ln w="9525">
            <a:solidFill>
              <a:srgbClr val="CAD8C7"/>
            </a:solidFill>
            <a:prstDash val="solid"/>
          </a:ln>
        </p:spPr>
      </p:sp>
      <p:pic>
        <p:nvPicPr>
          <p:cNvPr id="12" name="Graphic 1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6438900" y="3486150"/>
            <a:ext cx="533400" cy="5334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EC08E977-C28E-4F5B-89F3-1043506DF08A}"/>
              </a:ext>
            </a:extLst>
          </p:cNvPr>
          <p:cNvSpPr>
            <a:spLocks noGrp="1"/>
          </p:cNvSpPr>
          <p:nvPr/>
        </p:nvSpPr>
        <p:spPr>
          <a:xfrm>
            <a:off x="7200900" y="3390900"/>
            <a:ext cx="2476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24322D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24322D"/>
                </a:solidFill>
                <a:latin typeface="Aptos Display"/>
                <a:ea typeface="Aptos Display"/>
                <a:cs typeface="Aptos Display"/>
              </a:rPr>
              <a:t>Urban entry wedge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6DD4B8C-6FA3-469B-9A03-200962FF47E4}"/>
              </a:ext>
            </a:extLst>
          </p:cNvPr>
          <p:cNvSpPr>
            <a:spLocks noGrp="1"/>
          </p:cNvSpPr>
          <p:nvPr/>
        </p:nvSpPr>
        <p:spPr>
          <a:xfrm>
            <a:off x="7200900" y="3829050"/>
            <a:ext cx="27813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2635A"/>
                </a:solidFill>
                <a:latin typeface="Aptos"/>
                <a:ea typeface="Aptos"/>
                <a:cs typeface="Aptos"/>
              </a:defRPr>
            </a:pPr>
            <a:r>
              <a:rPr sz="1200" b="0" dirty="0">
                <a:solidFill>
                  <a:srgbClr val="52635A"/>
                </a:solidFill>
                <a:latin typeface="Aptos"/>
                <a:ea typeface="Aptos"/>
                <a:cs typeface="Aptos"/>
              </a:rPr>
              <a:t>Nearly two-thirds of urban Indian households now buy baby-care products online, according to Economic Times </a:t>
            </a:r>
            <a:r>
              <a:rPr sz="1200" b="0">
                <a:solidFill>
                  <a:srgbClr val="52635A"/>
                </a:solidFill>
                <a:latin typeface="Aptos"/>
                <a:ea typeface="Aptos"/>
                <a:cs typeface="Aptos"/>
              </a:rPr>
              <a:t>reporting.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C52BD19-CCC4-4F2A-A97B-45CE9DAF1993}"/>
              </a:ext>
            </a:extLst>
          </p:cNvPr>
          <p:cNvSpPr>
            <a:spLocks noGrp="1"/>
          </p:cNvSpPr>
          <p:nvPr/>
        </p:nvSpPr>
        <p:spPr>
          <a:xfrm>
            <a:off x="6419850" y="4724400"/>
            <a:ext cx="35433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607862"/>
                </a:solidFill>
                <a:latin typeface="Aptos"/>
                <a:ea typeface="Aptos"/>
                <a:cs typeface="Aptos"/>
              </a:defRPr>
            </a:pPr>
            <a:endParaRPr lang="en-US" sz="1200" b="1" dirty="0">
              <a:solidFill>
                <a:srgbClr val="60786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59789C8-EEC5-40B7-B01D-5C08CE731B1A}"/>
              </a:ext>
            </a:extLst>
          </p:cNvPr>
          <p:cNvSpPr>
            <a:spLocks noGrp="1"/>
          </p:cNvSpPr>
          <p:nvPr/>
        </p:nvSpPr>
        <p:spPr>
          <a:xfrm>
            <a:off x="666750" y="6419850"/>
            <a:ext cx="781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52635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2635A"/>
                </a:solidFill>
                <a:latin typeface="Aptos"/>
                <a:ea typeface="Aptos"/>
                <a:cs typeface="Aptos"/>
              </a:rPr>
              <a:t>Sources: World Bank WDI 2024 values; Economic Times citing Numerator/Kantar, Aug 2025.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4F92314-C670-48FE-8587-ECEC0D6D3BCD}"/>
              </a:ext>
            </a:extLst>
          </p:cNvPr>
          <p:cNvSpPr>
            <a:spLocks noGrp="1"/>
          </p:cNvSpPr>
          <p:nvPr/>
        </p:nvSpPr>
        <p:spPr>
          <a:xfrm>
            <a:off x="11239500" y="6419850"/>
            <a:ext cx="304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60786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07862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255724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899B743E-852F-6BB0-3533-E9083CE4B1E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4-marker">
            <a:extLst>
              <a:ext uri="{FF2B5EF4-FFF2-40B4-BE49-F238E27FC236}">
                <a16:creationId xmlns:a16="http://schemas.microsoft.com/office/drawing/2014/main" id="{71B9D03D-9FAE-48A3-9489-A5C9C5C58749}"/>
              </a:ext>
            </a:extLst>
          </p:cNvPr>
          <p:cNvSpPr>
            <a:spLocks noGrp="1"/>
          </p:cNvSpPr>
          <p:nvPr/>
        </p:nvSpPr>
        <p:spPr>
          <a:xfrm>
            <a:off x="666750" y="533400"/>
            <a:ext cx="209550" cy="19050"/>
          </a:xfrm>
          <a:prstGeom prst="rect">
            <a:avLst/>
          </a:prstGeom>
          <a:solidFill>
            <a:srgbClr val="60786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4-label">
            <a:extLst>
              <a:ext uri="{FF2B5EF4-FFF2-40B4-BE49-F238E27FC236}">
                <a16:creationId xmlns:a16="http://schemas.microsoft.com/office/drawing/2014/main" id="{DCA4C4F5-16C7-41D8-BB98-1947098202F6}"/>
              </a:ext>
            </a:extLst>
          </p:cNvPr>
          <p:cNvSpPr>
            <a:spLocks noGrp="1"/>
          </p:cNvSpPr>
          <p:nvPr/>
        </p:nvSpPr>
        <p:spPr>
          <a:xfrm>
            <a:off x="990600" y="457200"/>
            <a:ext cx="2476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750" b="1">
                <a:solidFill>
                  <a:srgbClr val="607862"/>
                </a:solidFill>
                <a:latin typeface="Aptos"/>
                <a:ea typeface="Aptos"/>
                <a:cs typeface="Aptos"/>
              </a:defRPr>
            </a:pPr>
            <a:r>
              <a:rPr sz="750" b="1" dirty="0">
                <a:solidFill>
                  <a:srgbClr val="607862"/>
                </a:solidFill>
                <a:latin typeface="Aptos"/>
                <a:ea typeface="Aptos"/>
                <a:cs typeface="Aptos"/>
                <a:hlinkClick r:id="rId3"/>
              </a:rPr>
              <a:t>BUSINESS MODEL</a:t>
            </a:r>
            <a:endParaRPr sz="750" b="1">
              <a:solidFill>
                <a:srgbClr val="60786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0E08FA9-BE37-4AEB-8EB8-388F85DD1A3F}"/>
              </a:ext>
            </a:extLst>
          </p:cNvPr>
          <p:cNvSpPr>
            <a:spLocks noGrp="1"/>
          </p:cNvSpPr>
          <p:nvPr/>
        </p:nvSpPr>
        <p:spPr>
          <a:xfrm>
            <a:off x="666750" y="876300"/>
            <a:ext cx="733425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24322D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4322D"/>
                </a:solidFill>
                <a:latin typeface="Aptos Display"/>
                <a:ea typeface="Aptos Display"/>
                <a:cs typeface="Aptos Display"/>
              </a:rPr>
              <a:t>Start with recurring care, then expand through trusted channels.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A8F42B6-5696-46A1-8E8B-5D85A08A8743}"/>
              </a:ext>
            </a:extLst>
          </p:cNvPr>
          <p:cNvSpPr>
            <a:spLocks noGrp="1"/>
          </p:cNvSpPr>
          <p:nvPr/>
        </p:nvSpPr>
        <p:spPr>
          <a:xfrm>
            <a:off x="685800" y="1943100"/>
            <a:ext cx="60960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52635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2635A"/>
                </a:solidFill>
                <a:latin typeface="Aptos"/>
                <a:ea typeface="Aptos"/>
                <a:cs typeface="Aptos"/>
              </a:rPr>
              <a:t>The model begins direct, learns fast, and adds reach where parents already seek care.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12BA642C-D2BD-2FA5-993A-843EE5FB200E}"/>
              </a:ext>
            </a:extLst>
          </p:cNvPr>
          <p:cNvGrpSpPr/>
          <p:nvPr/>
        </p:nvGrpSpPr>
        <p:grpSpPr>
          <a:xfrm>
            <a:off x="1901403" y="2423880"/>
            <a:ext cx="8168054" cy="3535839"/>
            <a:chOff x="1901403" y="2423880"/>
            <a:chExt cx="8168054" cy="3535839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AEFC3AB4-0AD9-4131-AFB3-4EC783810806}"/>
                </a:ext>
              </a:extLst>
            </p:cNvPr>
            <p:cNvSpPr>
              <a:spLocks noGrp="1"/>
            </p:cNvSpPr>
            <p:nvPr/>
          </p:nvSpPr>
          <p:spPr>
            <a:xfrm>
              <a:off x="5035927" y="3757513"/>
              <a:ext cx="1714500" cy="1714500"/>
            </a:xfrm>
            <a:prstGeom prst="ellipse">
              <a:avLst/>
            </a:prstGeom>
            <a:solidFill>
              <a:srgbClr val="24322D"/>
            </a:solidFill>
            <a:ln w="9525">
              <a:solidFill>
                <a:srgbClr val="24322D"/>
              </a:solidFill>
              <a:prstDash val="solid"/>
            </a:ln>
          </p:spPr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D7D29BA-1ACB-4794-BBF4-45BB6080ECF7}"/>
                </a:ext>
              </a:extLst>
            </p:cNvPr>
            <p:cNvSpPr>
              <a:spLocks noGrp="1"/>
            </p:cNvSpPr>
            <p:nvPr/>
          </p:nvSpPr>
          <p:spPr>
            <a:xfrm>
              <a:off x="5264527" y="4329013"/>
              <a:ext cx="1257300" cy="609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0">
              <a:solidFill>
                <a:srgbClr val="000000">
                  <a:alpha val="0"/>
                </a:srgbClr>
              </a:solidFill>
              <a:prstDash val="solid"/>
            </a:ln>
          </p:spPr>
          <p:txBody>
            <a:bodyPr lIns="0" tIns="0" rIns="0" bIns="0" anchor="t"/>
            <a:lstStyle/>
            <a:p>
              <a:pPr algn="ctr">
                <a:defRPr sz="1875" b="1">
                  <a:solidFill>
                    <a:srgbClr val="FFFFFF"/>
                  </a:solidFill>
                  <a:latin typeface="Aptos Display"/>
                  <a:ea typeface="Aptos Display"/>
                  <a:cs typeface="Aptos Display"/>
                </a:defRPr>
              </a:pPr>
              <a:r>
                <a:rPr sz="1875" b="1">
                  <a:solidFill>
                    <a:srgbClr val="FFFFFF"/>
                  </a:solidFill>
                  <a:latin typeface="Aptos Display"/>
                  <a:ea typeface="Aptos Display"/>
                  <a:cs typeface="Aptos Display"/>
                </a:rPr>
                <a:t>Recurring</a:t>
              </a:r>
            </a:p>
            <a:p>
              <a:pPr algn="ctr">
                <a:defRPr sz="1875" b="1">
                  <a:solidFill>
                    <a:srgbClr val="FFFFFF"/>
                  </a:solidFill>
                  <a:latin typeface="Aptos Display"/>
                  <a:ea typeface="Aptos Display"/>
                  <a:cs typeface="Aptos Display"/>
                </a:defRPr>
              </a:pPr>
              <a:r>
                <a:rPr sz="1875" b="1">
                  <a:solidFill>
                    <a:srgbClr val="FFFFFF"/>
                  </a:solidFill>
                  <a:latin typeface="Aptos Display"/>
                  <a:ea typeface="Aptos Display"/>
                  <a:cs typeface="Aptos Display"/>
                </a:rPr>
                <a:t>care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97862406-7C49-4D69-90B6-60440E014437}"/>
                </a:ext>
              </a:extLst>
            </p:cNvPr>
            <p:cNvSpPr>
              <a:spLocks noGrp="1"/>
            </p:cNvSpPr>
            <p:nvPr/>
          </p:nvSpPr>
          <p:spPr>
            <a:xfrm>
              <a:off x="2381250" y="2990850"/>
              <a:ext cx="666750" cy="66675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CAD8C7"/>
              </a:solidFill>
              <a:prstDash val="solid"/>
            </a:ln>
          </p:spPr>
        </p:sp>
        <p:pic>
          <p:nvPicPr>
            <p:cNvPr id="9" name="Graphic 8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/>
          </p:blipFill>
          <p:spPr>
            <a:xfrm>
              <a:off x="2561273" y="3170873"/>
              <a:ext cx="306705" cy="306705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00E21FF-A529-400D-A37A-63DD968B49D5}"/>
                </a:ext>
              </a:extLst>
            </p:cNvPr>
            <p:cNvSpPr>
              <a:spLocks noGrp="1"/>
            </p:cNvSpPr>
            <p:nvPr/>
          </p:nvSpPr>
          <p:spPr>
            <a:xfrm>
              <a:off x="2114550" y="3771900"/>
              <a:ext cx="1200150" cy="3238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0">
              <a:solidFill>
                <a:srgbClr val="000000">
                  <a:alpha val="0"/>
                </a:srgbClr>
              </a:solidFill>
              <a:prstDash val="solid"/>
            </a:ln>
          </p:spPr>
          <p:txBody>
            <a:bodyPr lIns="0" tIns="0" rIns="0" bIns="0" anchor="ctr"/>
            <a:lstStyle/>
            <a:p>
              <a:pPr algn="ctr">
                <a:defRPr sz="975" b="0">
                  <a:solidFill>
                    <a:srgbClr val="24322D"/>
                  </a:solidFill>
                  <a:latin typeface="Aptos"/>
                  <a:ea typeface="Aptos"/>
                  <a:cs typeface="Aptos"/>
                </a:defRPr>
              </a:pPr>
              <a:r>
                <a:rPr sz="975" b="0">
                  <a:solidFill>
                    <a:srgbClr val="24322D"/>
                  </a:solidFill>
                  <a:latin typeface="Aptos"/>
                  <a:ea typeface="Aptos"/>
                  <a:cs typeface="Aptos"/>
                </a:rPr>
                <a:t>Individual packs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48C0A260-1D8D-4D2E-A49A-F77DAE1F0D46}"/>
                </a:ext>
              </a:extLst>
            </p:cNvPr>
            <p:cNvSpPr>
              <a:spLocks noGrp="1"/>
            </p:cNvSpPr>
            <p:nvPr/>
          </p:nvSpPr>
          <p:spPr>
            <a:xfrm>
              <a:off x="2168103" y="4838833"/>
              <a:ext cx="666750" cy="66675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CAD8C7"/>
              </a:solidFill>
              <a:prstDash val="solid"/>
            </a:ln>
          </p:spPr>
        </p:sp>
        <p:pic>
          <p:nvPicPr>
            <p:cNvPr id="12" name="Graphic 11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/>
          </p:blipFill>
          <p:spPr>
            <a:xfrm>
              <a:off x="2348126" y="5018856"/>
              <a:ext cx="306705" cy="306705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8B5B48F-C122-45C4-A5A2-4C9FCE4CEB00}"/>
                </a:ext>
              </a:extLst>
            </p:cNvPr>
            <p:cNvSpPr>
              <a:spLocks noGrp="1"/>
            </p:cNvSpPr>
            <p:nvPr/>
          </p:nvSpPr>
          <p:spPr>
            <a:xfrm>
              <a:off x="1901403" y="5619883"/>
              <a:ext cx="1200150" cy="3238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0">
              <a:solidFill>
                <a:srgbClr val="000000">
                  <a:alpha val="0"/>
                </a:srgbClr>
              </a:solidFill>
              <a:prstDash val="solid"/>
            </a:ln>
          </p:spPr>
          <p:txBody>
            <a:bodyPr lIns="0" tIns="0" rIns="0" bIns="0" anchor="ctr"/>
            <a:lstStyle/>
            <a:p>
              <a:pPr algn="ctr">
                <a:defRPr sz="975" b="0">
                  <a:solidFill>
                    <a:srgbClr val="24322D"/>
                  </a:solidFill>
                  <a:latin typeface="Aptos"/>
                  <a:ea typeface="Aptos"/>
                  <a:cs typeface="Aptos"/>
                </a:defRPr>
              </a:pPr>
              <a:r>
                <a:rPr sz="975" b="0">
                  <a:solidFill>
                    <a:srgbClr val="24322D"/>
                  </a:solidFill>
                  <a:latin typeface="Aptos"/>
                  <a:ea typeface="Aptos"/>
                  <a:cs typeface="Aptos"/>
                </a:rPr>
                <a:t>Monthly subscription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9A000C9F-7A30-445D-A6A8-F9A34DB839A2}"/>
                </a:ext>
              </a:extLst>
            </p:cNvPr>
            <p:cNvSpPr>
              <a:spLocks noGrp="1"/>
            </p:cNvSpPr>
            <p:nvPr/>
          </p:nvSpPr>
          <p:spPr>
            <a:xfrm>
              <a:off x="9136007" y="4854819"/>
              <a:ext cx="666750" cy="66675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CAD8C7"/>
              </a:solidFill>
              <a:prstDash val="solid"/>
            </a:ln>
          </p:spPr>
        </p:sp>
        <p:pic>
          <p:nvPicPr>
            <p:cNvPr id="15" name="Graphic 14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/>
          </p:blipFill>
          <p:spPr>
            <a:xfrm>
              <a:off x="9316030" y="5034842"/>
              <a:ext cx="306705" cy="306705"/>
            </a:xfrm>
            <a:prstGeom prst="rect">
              <a:avLst/>
            </a:prstGeom>
          </p:spPr>
        </p:pic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81114E7-8BB4-42BA-B631-590825D7CEE9}"/>
                </a:ext>
              </a:extLst>
            </p:cNvPr>
            <p:cNvSpPr>
              <a:spLocks noGrp="1"/>
            </p:cNvSpPr>
            <p:nvPr/>
          </p:nvSpPr>
          <p:spPr>
            <a:xfrm>
              <a:off x="8869307" y="5635869"/>
              <a:ext cx="1200150" cy="3238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0">
              <a:solidFill>
                <a:srgbClr val="000000">
                  <a:alpha val="0"/>
                </a:srgbClr>
              </a:solidFill>
              <a:prstDash val="solid"/>
            </a:ln>
          </p:spPr>
          <p:txBody>
            <a:bodyPr lIns="0" tIns="0" rIns="0" bIns="0" anchor="ctr"/>
            <a:lstStyle/>
            <a:p>
              <a:pPr algn="ctr">
                <a:defRPr sz="975" b="0">
                  <a:solidFill>
                    <a:srgbClr val="24322D"/>
                  </a:solidFill>
                  <a:latin typeface="Aptos"/>
                  <a:ea typeface="Aptos"/>
                  <a:cs typeface="Aptos"/>
                </a:defRPr>
              </a:pPr>
              <a:r>
                <a:rPr sz="975" b="0">
                  <a:solidFill>
                    <a:srgbClr val="24322D"/>
                  </a:solidFill>
                  <a:latin typeface="Aptos"/>
                  <a:ea typeface="Aptos"/>
                  <a:cs typeface="Aptos"/>
                </a:rPr>
                <a:t>E-commerce + Amazon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B103BEE2-0406-4930-BBA6-E4823255628B}"/>
                </a:ext>
              </a:extLst>
            </p:cNvPr>
            <p:cNvSpPr>
              <a:spLocks noGrp="1"/>
            </p:cNvSpPr>
            <p:nvPr/>
          </p:nvSpPr>
          <p:spPr>
            <a:xfrm>
              <a:off x="8782050" y="2990850"/>
              <a:ext cx="666750" cy="66675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CAD8C7"/>
              </a:solidFill>
              <a:prstDash val="solid"/>
            </a:ln>
          </p:spPr>
        </p:sp>
        <p:pic>
          <p:nvPicPr>
            <p:cNvPr id="18" name="Graphic 17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/>
          </p:blipFill>
          <p:spPr>
            <a:xfrm>
              <a:off x="8962073" y="3170873"/>
              <a:ext cx="306705" cy="30670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CFDB905-C190-4DF5-B190-2F097B185BD7}"/>
                </a:ext>
              </a:extLst>
            </p:cNvPr>
            <p:cNvSpPr>
              <a:spLocks noGrp="1"/>
            </p:cNvSpPr>
            <p:nvPr/>
          </p:nvSpPr>
          <p:spPr>
            <a:xfrm>
              <a:off x="8515350" y="3771900"/>
              <a:ext cx="1200150" cy="3238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0">
              <a:solidFill>
                <a:srgbClr val="000000">
                  <a:alpha val="0"/>
                </a:srgbClr>
              </a:solidFill>
              <a:prstDash val="solid"/>
            </a:ln>
          </p:spPr>
          <p:txBody>
            <a:bodyPr lIns="0" tIns="0" rIns="0" bIns="0" anchor="ctr"/>
            <a:lstStyle/>
            <a:p>
              <a:pPr algn="ctr">
                <a:defRPr sz="975" b="0">
                  <a:solidFill>
                    <a:srgbClr val="24322D"/>
                  </a:solidFill>
                  <a:latin typeface="Aptos"/>
                  <a:ea typeface="Aptos"/>
                  <a:cs typeface="Aptos"/>
                </a:defRPr>
              </a:pPr>
              <a:r>
                <a:rPr sz="975" b="0">
                  <a:solidFill>
                    <a:srgbClr val="24322D"/>
                  </a:solidFill>
                  <a:latin typeface="Aptos"/>
                  <a:ea typeface="Aptos"/>
                  <a:cs typeface="Aptos"/>
                </a:rPr>
                <a:t>Pharmacies + clinics</a:t>
              </a: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AAE60F57-1EB7-4826-89DD-98A23081CF18}"/>
                </a:ext>
              </a:extLst>
            </p:cNvPr>
            <p:cNvSpPr>
              <a:spLocks noGrp="1"/>
            </p:cNvSpPr>
            <p:nvPr/>
          </p:nvSpPr>
          <p:spPr>
            <a:xfrm>
              <a:off x="5485734" y="2423880"/>
              <a:ext cx="666750" cy="66675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CAD8C7"/>
              </a:solidFill>
              <a:prstDash val="solid"/>
            </a:ln>
          </p:spPr>
        </p:sp>
        <p:pic>
          <p:nvPicPr>
            <p:cNvPr id="21" name="Graphic 20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/>
          </p:blipFill>
          <p:spPr>
            <a:xfrm>
              <a:off x="5665757" y="2603903"/>
              <a:ext cx="306705" cy="306705"/>
            </a:xfrm>
            <a:prstGeom prst="rect">
              <a:avLst/>
            </a:prstGeom>
          </p:spPr>
        </p:pic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59BDF639-10F8-442C-9678-0AE3286FFC6E}"/>
                </a:ext>
              </a:extLst>
            </p:cNvPr>
            <p:cNvSpPr>
              <a:spLocks noGrp="1"/>
            </p:cNvSpPr>
            <p:nvPr/>
          </p:nvSpPr>
          <p:spPr>
            <a:xfrm>
              <a:off x="5219034" y="3204930"/>
              <a:ext cx="1200150" cy="3238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0">
              <a:solidFill>
                <a:srgbClr val="000000">
                  <a:alpha val="0"/>
                </a:srgbClr>
              </a:solidFill>
              <a:prstDash val="solid"/>
            </a:ln>
          </p:spPr>
          <p:txBody>
            <a:bodyPr lIns="0" tIns="0" rIns="0" bIns="0" anchor="ctr"/>
            <a:lstStyle/>
            <a:p>
              <a:pPr algn="ctr">
                <a:defRPr sz="975" b="0">
                  <a:solidFill>
                    <a:srgbClr val="24322D"/>
                  </a:solidFill>
                  <a:latin typeface="Aptos"/>
                  <a:ea typeface="Aptos"/>
                  <a:cs typeface="Aptos"/>
                </a:defRPr>
              </a:pPr>
              <a:r>
                <a:rPr sz="975" b="0">
                  <a:solidFill>
                    <a:srgbClr val="24322D"/>
                  </a:solidFill>
                  <a:latin typeface="Aptos"/>
                  <a:ea typeface="Aptos"/>
                  <a:cs typeface="Aptos"/>
                </a:rPr>
                <a:t>Retail stores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61CE3B41-9A87-4D76-AB29-56C2D79F9577}"/>
                </a:ext>
              </a:extLst>
            </p:cNvPr>
            <p:cNvSpPr>
              <a:spLocks noGrp="1"/>
            </p:cNvSpPr>
            <p:nvPr/>
          </p:nvSpPr>
          <p:spPr>
            <a:xfrm rot="1800000">
              <a:off x="2942226" y="3973191"/>
              <a:ext cx="2171700" cy="19050"/>
            </a:xfrm>
            <a:prstGeom prst="rect">
              <a:avLst/>
            </a:prstGeom>
            <a:solidFill>
              <a:srgbClr val="CAD8C7"/>
            </a:solidFill>
            <a:ln w="0">
              <a:solidFill>
                <a:srgbClr val="000000">
                  <a:alpha val="0"/>
                </a:srgbClr>
              </a:solidFill>
              <a:prstDash val="solid"/>
            </a:ln>
          </p:spPr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77442FFC-7036-4602-B016-B2C127AD6231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2720154" y="5014945"/>
              <a:ext cx="2389908" cy="18252"/>
            </a:xfrm>
            <a:prstGeom prst="rect">
              <a:avLst/>
            </a:prstGeom>
            <a:solidFill>
              <a:srgbClr val="CAD8C7"/>
            </a:solidFill>
            <a:ln w="0">
              <a:solidFill>
                <a:srgbClr val="000000">
                  <a:alpha val="0"/>
                </a:srgbClr>
              </a:solidFill>
              <a:prstDash val="solid"/>
            </a:ln>
          </p:spPr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6F1E2BE4-2E02-41A5-897B-ADE62783B2E8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6669898" y="5020275"/>
              <a:ext cx="2468240" cy="28907"/>
            </a:xfrm>
            <a:prstGeom prst="rect">
              <a:avLst/>
            </a:prstGeom>
            <a:solidFill>
              <a:srgbClr val="CAD8C7"/>
            </a:solidFill>
            <a:ln w="0">
              <a:solidFill>
                <a:srgbClr val="000000">
                  <a:alpha val="0"/>
                </a:srgbClr>
              </a:solidFill>
              <a:prstDash val="solid"/>
            </a:ln>
          </p:spPr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1600DF14-E30B-420F-9790-2299744E25B7}"/>
                </a:ext>
              </a:extLst>
            </p:cNvPr>
            <p:cNvSpPr>
              <a:spLocks noGrp="1"/>
            </p:cNvSpPr>
            <p:nvPr/>
          </p:nvSpPr>
          <p:spPr>
            <a:xfrm rot="-1740000" flipV="1">
              <a:off x="6606352" y="3904663"/>
              <a:ext cx="2387510" cy="23580"/>
            </a:xfrm>
            <a:prstGeom prst="rect">
              <a:avLst/>
            </a:prstGeom>
            <a:solidFill>
              <a:srgbClr val="CAD8C7"/>
            </a:solidFill>
            <a:ln w="0">
              <a:solidFill>
                <a:srgbClr val="000000">
                  <a:alpha val="0"/>
                </a:srgbClr>
              </a:solidFill>
              <a:prstDash val="solid"/>
            </a:ln>
          </p:spPr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9679EBBA-260A-4C7C-B7BC-D1393C07F71A}"/>
                </a:ext>
              </a:extLst>
            </p:cNvPr>
            <p:cNvSpPr>
              <a:spLocks noGrp="1"/>
            </p:cNvSpPr>
            <p:nvPr/>
          </p:nvSpPr>
          <p:spPr>
            <a:xfrm>
              <a:off x="5632272" y="3170560"/>
              <a:ext cx="342900" cy="19050"/>
            </a:xfrm>
            <a:prstGeom prst="rect">
              <a:avLst/>
            </a:prstGeom>
            <a:solidFill>
              <a:srgbClr val="CAD8C7"/>
            </a:solidFill>
            <a:ln w="0">
              <a:solidFill>
                <a:srgbClr val="000000">
                  <a:alpha val="0"/>
                </a:srgbClr>
              </a:solidFill>
              <a:prstDash val="solid"/>
            </a:ln>
          </p:spPr>
        </p: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12739855-DF05-451B-8D3C-AD974F1F747C}"/>
              </a:ext>
            </a:extLst>
          </p:cNvPr>
          <p:cNvSpPr>
            <a:spLocks noGrp="1"/>
          </p:cNvSpPr>
          <p:nvPr/>
        </p:nvSpPr>
        <p:spPr>
          <a:xfrm>
            <a:off x="11239500" y="6419850"/>
            <a:ext cx="304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60786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07862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6122833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ectangle 78">
            <a:extLst>
              <a:ext uri="{FF2B5EF4-FFF2-40B4-BE49-F238E27FC236}">
                <a16:creationId xmlns:a16="http://schemas.microsoft.com/office/drawing/2014/main" id="{FBB1921D-D06C-2774-9115-AA0B51D7003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5-marker">
            <a:extLst>
              <a:ext uri="{FF2B5EF4-FFF2-40B4-BE49-F238E27FC236}">
                <a16:creationId xmlns:a16="http://schemas.microsoft.com/office/drawing/2014/main" id="{4144C01E-44A2-47B9-9B19-FBD3FA8F0D35}"/>
              </a:ext>
            </a:extLst>
          </p:cNvPr>
          <p:cNvSpPr>
            <a:spLocks noGrp="1"/>
          </p:cNvSpPr>
          <p:nvPr/>
        </p:nvSpPr>
        <p:spPr>
          <a:xfrm>
            <a:off x="666750" y="533400"/>
            <a:ext cx="209550" cy="19050"/>
          </a:xfrm>
          <a:prstGeom prst="rect">
            <a:avLst/>
          </a:prstGeom>
          <a:solidFill>
            <a:srgbClr val="60786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5-label">
            <a:extLst>
              <a:ext uri="{FF2B5EF4-FFF2-40B4-BE49-F238E27FC236}">
                <a16:creationId xmlns:a16="http://schemas.microsoft.com/office/drawing/2014/main" id="{363114D6-B989-4FBF-824F-216265359BE6}"/>
              </a:ext>
            </a:extLst>
          </p:cNvPr>
          <p:cNvSpPr>
            <a:spLocks noGrp="1"/>
          </p:cNvSpPr>
          <p:nvPr/>
        </p:nvSpPr>
        <p:spPr>
          <a:xfrm>
            <a:off x="990600" y="457200"/>
            <a:ext cx="2476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750" b="1">
                <a:solidFill>
                  <a:srgbClr val="60786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07862"/>
                </a:solidFill>
                <a:latin typeface="Aptos"/>
                <a:ea typeface="Aptos"/>
                <a:cs typeface="Aptos"/>
              </a:rPr>
              <a:t>GO TO MARKET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6072FCD-1AE8-4BE6-A9FC-173BFEF59BB3}"/>
              </a:ext>
            </a:extLst>
          </p:cNvPr>
          <p:cNvSpPr>
            <a:spLocks noGrp="1"/>
          </p:cNvSpPr>
          <p:nvPr/>
        </p:nvSpPr>
        <p:spPr>
          <a:xfrm>
            <a:off x="666750" y="876300"/>
            <a:ext cx="609600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3150" b="1">
                <a:solidFill>
                  <a:srgbClr val="24322D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US" sz="3150" b="1">
                <a:solidFill>
                  <a:srgbClr val="24322D"/>
                </a:solidFill>
                <a:latin typeface="Aptos Display"/>
              </a:rPr>
              <a:t>Trust first. Distribution second.</a:t>
            </a:r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720E4FB-CF4B-44B8-8E3D-883120B0F0D5}"/>
              </a:ext>
            </a:extLst>
          </p:cNvPr>
          <p:cNvSpPr>
            <a:spLocks noGrp="1"/>
          </p:cNvSpPr>
          <p:nvPr/>
        </p:nvSpPr>
        <p:spPr>
          <a:xfrm>
            <a:off x="11239500" y="6419850"/>
            <a:ext cx="304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60786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07862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grpSp>
        <p:nvGrpSpPr>
          <p:cNvPr id="77" name="Group 76">
            <a:extLst>
              <a:ext uri="{FF2B5EF4-FFF2-40B4-BE49-F238E27FC236}">
                <a16:creationId xmlns:a16="http://schemas.microsoft.com/office/drawing/2014/main" id="{DA57CBFA-7E30-7D98-EC29-802ECA9768FF}"/>
              </a:ext>
            </a:extLst>
          </p:cNvPr>
          <p:cNvGrpSpPr/>
          <p:nvPr/>
        </p:nvGrpSpPr>
        <p:grpSpPr>
          <a:xfrm>
            <a:off x="449874" y="1843444"/>
            <a:ext cx="11159665" cy="3857701"/>
            <a:chOff x="449874" y="1843444"/>
            <a:chExt cx="11159665" cy="3857701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DA3B497-700A-489F-B2B1-6E8465FD3BC3}"/>
                </a:ext>
              </a:extLst>
            </p:cNvPr>
            <p:cNvSpPr>
              <a:spLocks noGrp="1"/>
            </p:cNvSpPr>
            <p:nvPr/>
          </p:nvSpPr>
          <p:spPr>
            <a:xfrm>
              <a:off x="449874" y="3730735"/>
              <a:ext cx="11114941" cy="19051"/>
            </a:xfrm>
            <a:prstGeom prst="rect">
              <a:avLst/>
            </a:prstGeom>
            <a:solidFill>
              <a:srgbClr val="CAD8C7"/>
            </a:solidFill>
            <a:ln w="0">
              <a:solidFill>
                <a:srgbClr val="000000">
                  <a:alpha val="0"/>
                </a:srgbClr>
              </a:solidFill>
              <a:prstDash val="solid"/>
            </a:ln>
          </p:spPr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B7768D11-1057-4736-8185-AD97B36191BE}"/>
                </a:ext>
              </a:extLst>
            </p:cNvPr>
            <p:cNvSpPr>
              <a:spLocks noGrp="1"/>
            </p:cNvSpPr>
            <p:nvPr/>
          </p:nvSpPr>
          <p:spPr>
            <a:xfrm>
              <a:off x="1375440" y="3580268"/>
              <a:ext cx="266700" cy="266700"/>
            </a:xfrm>
            <a:prstGeom prst="ellipse">
              <a:avLst/>
            </a:prstGeom>
            <a:solidFill>
              <a:srgbClr val="607862"/>
            </a:solidFill>
            <a:ln w="0">
              <a:solidFill>
                <a:srgbClr val="000000">
                  <a:alpha val="0"/>
                </a:srgbClr>
              </a:solidFill>
              <a:prstDash val="solid"/>
            </a:ln>
          </p:spPr>
        </p: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ED088BE9-90CB-6EB4-1090-DD3671C263F4}"/>
                </a:ext>
              </a:extLst>
            </p:cNvPr>
            <p:cNvGrpSpPr/>
            <p:nvPr/>
          </p:nvGrpSpPr>
          <p:grpSpPr>
            <a:xfrm>
              <a:off x="466769" y="4040199"/>
              <a:ext cx="2366196" cy="1660946"/>
              <a:chOff x="1257300" y="4114800"/>
              <a:chExt cx="2366196" cy="1660946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F063C085-D1A5-4FEA-8537-ECBBD7FF1547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257300" y="4114800"/>
                <a:ext cx="2234978" cy="1660946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CAD8C7"/>
                </a:solidFill>
                <a:prstDash val="solid"/>
              </a:ln>
            </p:spPr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BCF3EB7D-472F-4FC1-A4DA-41C153A75DB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485900" y="4324350"/>
                <a:ext cx="1047750" cy="17145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 w="0">
                <a:solidFill>
                  <a:srgbClr val="000000">
                    <a:alpha val="0"/>
                  </a:srgbClr>
                </a:solidFill>
                <a:prstDash val="solid"/>
              </a:ln>
            </p:spPr>
            <p:txBody>
              <a:bodyPr lIns="0" tIns="0" rIns="0" bIns="0" anchor="t"/>
              <a:lstStyle/>
              <a:p>
                <a:pPr algn="l">
                  <a:defRPr sz="900" b="1">
                    <a:solidFill>
                      <a:srgbClr val="607862"/>
                    </a:solidFill>
                    <a:latin typeface="Aptos"/>
                    <a:ea typeface="Aptos"/>
                    <a:cs typeface="Aptos"/>
                  </a:defRPr>
                </a:pPr>
                <a:r>
                  <a:rPr sz="900" b="1">
                    <a:solidFill>
                      <a:srgbClr val="607862"/>
                    </a:solidFill>
                    <a:latin typeface="Aptos"/>
                    <a:ea typeface="Aptos"/>
                    <a:cs typeface="Aptos"/>
                  </a:rPr>
                  <a:t>Phase 1</a:t>
                </a: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68CE6E6F-940D-41BD-A06E-52A84507F99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491228" y="4625286"/>
                <a:ext cx="2132268" cy="2667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 w="0">
                <a:solidFill>
                  <a:srgbClr val="000000">
                    <a:alpha val="0"/>
                  </a:srgbClr>
                </a:solidFill>
                <a:prstDash val="solid"/>
              </a:ln>
            </p:spPr>
            <p:txBody>
              <a:bodyPr lIns="0" tIns="0" rIns="0" bIns="0" anchor="t"/>
              <a:lstStyle/>
              <a:p>
                <a:pPr algn="l">
                  <a:defRPr sz="1650" b="1">
                    <a:solidFill>
                      <a:srgbClr val="24322D"/>
                    </a:solidFill>
                    <a:latin typeface="Aptos Display"/>
                    <a:ea typeface="Aptos Display"/>
                    <a:cs typeface="Aptos Display"/>
                  </a:defRPr>
                </a:pPr>
                <a:r>
                  <a:rPr lang="en-US" sz="1650" b="1">
                    <a:solidFill>
                      <a:srgbClr val="24322D"/>
                    </a:solidFill>
                    <a:latin typeface="Aptos Display"/>
                  </a:rPr>
                  <a:t>Instagram</a:t>
                </a:r>
                <a:endParaRPr lang="en-US"/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58E13F1D-4A73-4588-8B28-BCDA77FE32BC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485900" y="5112860"/>
                <a:ext cx="1733550" cy="4572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 w="0">
                <a:solidFill>
                  <a:srgbClr val="000000">
                    <a:alpha val="0"/>
                  </a:srgbClr>
                </a:solidFill>
                <a:prstDash val="solid"/>
              </a:ln>
            </p:spPr>
            <p:txBody>
              <a:bodyPr lIns="0" tIns="0" rIns="0" bIns="0" anchor="t"/>
              <a:lstStyle/>
              <a:p>
                <a:pPr>
                  <a:defRPr sz="1050" b="0">
                    <a:solidFill>
                      <a:srgbClr val="52635A"/>
                    </a:solidFill>
                    <a:latin typeface="Aptos"/>
                    <a:ea typeface="Aptos"/>
                    <a:cs typeface="Aptos"/>
                  </a:defRPr>
                </a:pPr>
                <a:r>
                  <a:rPr lang="en-US"/>
                  <a:t>Build trust, </a:t>
                </a:r>
                <a:endParaRPr lang="en-US" dirty="0"/>
              </a:p>
              <a:p>
                <a:pPr>
                  <a:defRPr sz="1050" b="0">
                    <a:solidFill>
                      <a:srgbClr val="52635A"/>
                    </a:solidFill>
                    <a:latin typeface="Aptos"/>
                    <a:ea typeface="Aptos"/>
                    <a:cs typeface="Aptos"/>
                  </a:defRPr>
                </a:pPr>
                <a:r>
                  <a:rPr lang="en-US"/>
                  <a:t>spark interest</a:t>
                </a:r>
              </a:p>
            </p:txBody>
          </p:sp>
        </p:grp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293EA1A2-D54F-4A45-B55B-006A96B1928B}"/>
                </a:ext>
              </a:extLst>
            </p:cNvPr>
            <p:cNvSpPr>
              <a:spLocks noGrp="1"/>
            </p:cNvSpPr>
            <p:nvPr/>
          </p:nvSpPr>
          <p:spPr>
            <a:xfrm>
              <a:off x="5233049" y="3577582"/>
              <a:ext cx="266700" cy="266700"/>
            </a:xfrm>
            <a:prstGeom prst="ellipse">
              <a:avLst/>
            </a:prstGeom>
            <a:solidFill>
              <a:srgbClr val="607862"/>
            </a:solidFill>
            <a:ln w="0">
              <a:solidFill>
                <a:srgbClr val="000000">
                  <a:alpha val="0"/>
                </a:srgbClr>
              </a:solidFill>
              <a:prstDash val="solid"/>
            </a:ln>
          </p:spPr>
        </p: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3E71CB71-44A5-0C19-B884-307A53D1B1AC}"/>
                </a:ext>
              </a:extLst>
            </p:cNvPr>
            <p:cNvGrpSpPr/>
            <p:nvPr/>
          </p:nvGrpSpPr>
          <p:grpSpPr>
            <a:xfrm>
              <a:off x="2398853" y="1850115"/>
              <a:ext cx="2366196" cy="1660946"/>
              <a:chOff x="1257300" y="4114800"/>
              <a:chExt cx="2366196" cy="1660946"/>
            </a:xfrm>
          </p:grpSpPr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D83EA63B-B4D8-15CE-E768-093DD9A4EE5D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257300" y="4114800"/>
                <a:ext cx="2234978" cy="1660946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CAD8C7"/>
                </a:solidFill>
                <a:prstDash val="solid"/>
              </a:ln>
            </p:spPr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05AC4776-38FA-588B-412D-8AA8E06A4771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485900" y="4324350"/>
                <a:ext cx="1047750" cy="17145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 w="0">
                <a:solidFill>
                  <a:srgbClr val="000000">
                    <a:alpha val="0"/>
                  </a:srgbClr>
                </a:solidFill>
                <a:prstDash val="solid"/>
              </a:ln>
            </p:spPr>
            <p:txBody>
              <a:bodyPr lIns="0" tIns="0" rIns="0" bIns="0" anchor="t"/>
              <a:lstStyle/>
              <a:p>
                <a:pPr algn="l">
                  <a:defRPr sz="900" b="1">
                    <a:solidFill>
                      <a:srgbClr val="607862"/>
                    </a:solidFill>
                    <a:latin typeface="Aptos"/>
                    <a:ea typeface="Aptos"/>
                    <a:cs typeface="Aptos"/>
                  </a:defRPr>
                </a:pPr>
                <a:r>
                  <a:rPr sz="900" b="1">
                    <a:solidFill>
                      <a:srgbClr val="607862"/>
                    </a:solidFill>
                    <a:latin typeface="Aptos"/>
                    <a:ea typeface="Aptos"/>
                    <a:cs typeface="Aptos"/>
                  </a:rPr>
                  <a:t>Phase </a:t>
                </a:r>
                <a:r>
                  <a:rPr lang="en-US" sz="900" b="1">
                    <a:solidFill>
                      <a:srgbClr val="607862"/>
                    </a:solidFill>
                    <a:latin typeface="Aptos"/>
                    <a:ea typeface="Aptos"/>
                    <a:cs typeface="Aptos"/>
                  </a:rPr>
                  <a:t>2</a:t>
                </a:r>
                <a:endParaRPr sz="900" b="1">
                  <a:solidFill>
                    <a:srgbClr val="607862"/>
                  </a:solidFill>
                  <a:latin typeface="Aptos"/>
                  <a:ea typeface="Aptos"/>
                  <a:cs typeface="Aptos"/>
                </a:endParaRPr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A2EBDAC4-BD9A-31DA-0C46-69C8CBC26DB9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491228" y="4625286"/>
                <a:ext cx="2132268" cy="2667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 w="0">
                <a:solidFill>
                  <a:srgbClr val="000000">
                    <a:alpha val="0"/>
                  </a:srgbClr>
                </a:solidFill>
                <a:prstDash val="solid"/>
              </a:ln>
            </p:spPr>
            <p:txBody>
              <a:bodyPr lIns="0" tIns="0" rIns="0" bIns="0" anchor="t"/>
              <a:lstStyle/>
              <a:p>
                <a:pPr algn="l">
                  <a:defRPr sz="1650" b="1">
                    <a:solidFill>
                      <a:srgbClr val="24322D"/>
                    </a:solidFill>
                    <a:latin typeface="Aptos Display"/>
                    <a:ea typeface="Aptos Display"/>
                    <a:cs typeface="Aptos Display"/>
                  </a:defRPr>
                </a:pPr>
                <a:r>
                  <a:rPr lang="en-US" sz="1650" b="1">
                    <a:solidFill>
                      <a:srgbClr val="24322D"/>
                    </a:solidFill>
                    <a:latin typeface="Aptos Display"/>
                  </a:rPr>
                  <a:t>Amazon</a:t>
                </a:r>
                <a:endParaRPr lang="en-US"/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54F46C69-A0B1-6A29-D36A-8B9A7EC3C182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485900" y="5112860"/>
                <a:ext cx="1733550" cy="4572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 w="0">
                <a:solidFill>
                  <a:srgbClr val="000000">
                    <a:alpha val="0"/>
                  </a:srgbClr>
                </a:solidFill>
                <a:prstDash val="solid"/>
              </a:ln>
            </p:spPr>
            <p:txBody>
              <a:bodyPr lIns="0" tIns="0" rIns="0" bIns="0" anchor="t"/>
              <a:lstStyle/>
              <a:p>
                <a:pPr>
                  <a:defRPr sz="1050" b="0">
                    <a:solidFill>
                      <a:srgbClr val="52635A"/>
                    </a:solidFill>
                    <a:latin typeface="Aptos"/>
                    <a:ea typeface="Aptos"/>
                    <a:cs typeface="Aptos"/>
                  </a:defRPr>
                </a:pPr>
                <a:r>
                  <a:rPr lang="en-US" sz="1050">
                    <a:solidFill>
                      <a:srgbClr val="52635A"/>
                    </a:solidFill>
                    <a:latin typeface="Aptos"/>
                    <a:ea typeface="Aptos"/>
                    <a:cs typeface="Aptos"/>
                  </a:rPr>
                  <a:t>Easy access, </a:t>
                </a:r>
                <a:endParaRPr lang="en-US" sz="1050" dirty="0">
                  <a:solidFill>
                    <a:srgbClr val="52635A"/>
                  </a:solidFill>
                  <a:latin typeface="Aptos"/>
                  <a:ea typeface="Aptos"/>
                  <a:cs typeface="Aptos"/>
                </a:endParaRPr>
              </a:p>
              <a:p>
                <a:pPr>
                  <a:defRPr sz="1050" b="0">
                    <a:solidFill>
                      <a:srgbClr val="52635A"/>
                    </a:solidFill>
                    <a:latin typeface="Aptos"/>
                    <a:ea typeface="Aptos"/>
                    <a:cs typeface="Aptos"/>
                  </a:defRPr>
                </a:pPr>
                <a:r>
                  <a:rPr lang="en-US" sz="1050">
                    <a:solidFill>
                      <a:srgbClr val="52635A"/>
                    </a:solidFill>
                    <a:latin typeface="Aptos"/>
                    <a:ea typeface="Aptos"/>
                    <a:cs typeface="Aptos"/>
                  </a:rPr>
                  <a:t>credibility</a:t>
                </a:r>
                <a:endParaRPr lang="en-US" sz="1050" b="0">
                  <a:solidFill>
                    <a:srgbClr val="52635A"/>
                  </a:solidFill>
                  <a:latin typeface="Aptos"/>
                  <a:ea typeface="Aptos"/>
                  <a:cs typeface="Aptos"/>
                </a:endParaRPr>
              </a:p>
            </p:txBody>
          </p:sp>
        </p:grp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55D9BEA1-A998-A65D-6A67-89A814C55C66}"/>
                </a:ext>
              </a:extLst>
            </p:cNvPr>
            <p:cNvGrpSpPr/>
            <p:nvPr/>
          </p:nvGrpSpPr>
          <p:grpSpPr>
            <a:xfrm>
              <a:off x="4252308" y="4016199"/>
              <a:ext cx="2366196" cy="1660946"/>
              <a:chOff x="1257300" y="4114800"/>
              <a:chExt cx="2366196" cy="1660946"/>
            </a:xfrm>
          </p:grpSpPr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84E10A46-6AB6-D558-49ED-195800EB8142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257300" y="4114800"/>
                <a:ext cx="2234978" cy="1660946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CAD8C7"/>
                </a:solidFill>
                <a:prstDash val="solid"/>
              </a:ln>
            </p:spPr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A9E73522-092A-4EB4-787B-94A2AE4F2CAE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485900" y="4324350"/>
                <a:ext cx="1047750" cy="17145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 w="0">
                <a:solidFill>
                  <a:srgbClr val="000000">
                    <a:alpha val="0"/>
                  </a:srgbClr>
                </a:solidFill>
                <a:prstDash val="solid"/>
              </a:ln>
            </p:spPr>
            <p:txBody>
              <a:bodyPr lIns="0" tIns="0" rIns="0" bIns="0" anchor="t"/>
              <a:lstStyle/>
              <a:p>
                <a:pPr algn="l">
                  <a:defRPr sz="900" b="1">
                    <a:solidFill>
                      <a:srgbClr val="607862"/>
                    </a:solidFill>
                    <a:latin typeface="Aptos"/>
                    <a:ea typeface="Aptos"/>
                    <a:cs typeface="Aptos"/>
                  </a:defRPr>
                </a:pPr>
                <a:r>
                  <a:rPr sz="900" b="1">
                    <a:solidFill>
                      <a:srgbClr val="607862"/>
                    </a:solidFill>
                    <a:latin typeface="Aptos"/>
                    <a:ea typeface="Aptos"/>
                    <a:cs typeface="Aptos"/>
                  </a:rPr>
                  <a:t>Phase </a:t>
                </a:r>
                <a:r>
                  <a:rPr lang="en-US" sz="900" b="1">
                    <a:solidFill>
                      <a:srgbClr val="607862"/>
                    </a:solidFill>
                    <a:latin typeface="Aptos"/>
                    <a:ea typeface="Aptos"/>
                    <a:cs typeface="Aptos"/>
                  </a:rPr>
                  <a:t>3</a:t>
                </a:r>
                <a:endParaRPr sz="900" b="1">
                  <a:solidFill>
                    <a:srgbClr val="607862"/>
                  </a:solidFill>
                  <a:latin typeface="Aptos"/>
                  <a:ea typeface="Aptos"/>
                  <a:cs typeface="Aptos"/>
                </a:endParaRPr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F82DD93F-C598-831E-5969-FFA52626CFE4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491228" y="4625286"/>
                <a:ext cx="2132268" cy="2667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 w="0">
                <a:solidFill>
                  <a:srgbClr val="000000">
                    <a:alpha val="0"/>
                  </a:srgbClr>
                </a:solidFill>
                <a:prstDash val="solid"/>
              </a:ln>
            </p:spPr>
            <p:txBody>
              <a:bodyPr lIns="0" tIns="0" rIns="0" bIns="0" anchor="t"/>
              <a:lstStyle/>
              <a:p>
                <a:pPr algn="l">
                  <a:defRPr sz="1650" b="1">
                    <a:solidFill>
                      <a:srgbClr val="24322D"/>
                    </a:solidFill>
                    <a:latin typeface="Aptos Display"/>
                    <a:ea typeface="Aptos Display"/>
                    <a:cs typeface="Aptos Display"/>
                  </a:defRPr>
                </a:pPr>
                <a:r>
                  <a:rPr lang="en-US" sz="1650" b="1">
                    <a:solidFill>
                      <a:srgbClr val="24322D"/>
                    </a:solidFill>
                    <a:latin typeface="Aptos Display"/>
                  </a:rPr>
                  <a:t>Website</a:t>
                </a:r>
                <a:endParaRPr lang="en-US"/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918F9EA9-1681-0D96-FCEB-B820FCDD2A7C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485900" y="5112860"/>
                <a:ext cx="1733550" cy="4572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 w="0">
                <a:solidFill>
                  <a:srgbClr val="000000">
                    <a:alpha val="0"/>
                  </a:srgbClr>
                </a:solidFill>
                <a:prstDash val="solid"/>
              </a:ln>
            </p:spPr>
            <p:txBody>
              <a:bodyPr lIns="0" tIns="0" rIns="0" bIns="0" anchor="t"/>
              <a:lstStyle/>
              <a:p>
                <a:pPr>
                  <a:defRPr sz="1050" b="0">
                    <a:solidFill>
                      <a:srgbClr val="52635A"/>
                    </a:solidFill>
                    <a:latin typeface="Aptos"/>
                    <a:ea typeface="Aptos"/>
                    <a:cs typeface="Aptos"/>
                  </a:defRPr>
                </a:pPr>
                <a:r>
                  <a:rPr lang="en-US" sz="1050">
                    <a:solidFill>
                      <a:srgbClr val="52635A"/>
                    </a:solidFill>
                    <a:latin typeface="Aptos"/>
                  </a:rPr>
                  <a:t>Own Story, </a:t>
                </a:r>
                <a:endParaRPr lang="en-US"/>
              </a:p>
              <a:p>
                <a:pPr>
                  <a:defRPr sz="1050" b="0">
                    <a:solidFill>
                      <a:srgbClr val="52635A"/>
                    </a:solidFill>
                    <a:latin typeface="Aptos"/>
                    <a:ea typeface="Aptos"/>
                    <a:cs typeface="Aptos"/>
                  </a:defRPr>
                </a:pPr>
                <a:r>
                  <a:rPr lang="en-US" sz="1050">
                    <a:solidFill>
                      <a:srgbClr val="52635A"/>
                    </a:solidFill>
                    <a:latin typeface="Aptos"/>
                  </a:rPr>
                  <a:t>deeper info</a:t>
                </a:r>
                <a:endParaRPr lang="en-US"/>
              </a:p>
            </p:txBody>
          </p:sp>
        </p:grp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DCC73EC0-317B-A8FF-692C-F530407D61A5}"/>
                </a:ext>
              </a:extLst>
            </p:cNvPr>
            <p:cNvGrpSpPr/>
            <p:nvPr/>
          </p:nvGrpSpPr>
          <p:grpSpPr>
            <a:xfrm>
              <a:off x="5877804" y="1855444"/>
              <a:ext cx="2366196" cy="1660946"/>
              <a:chOff x="1257300" y="4114800"/>
              <a:chExt cx="2366196" cy="1660946"/>
            </a:xfrm>
          </p:grpSpPr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CC06049C-836B-2DBA-A95F-76B086163A91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257300" y="4114800"/>
                <a:ext cx="2234978" cy="1660946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CAD8C7"/>
                </a:solidFill>
                <a:prstDash val="solid"/>
              </a:ln>
            </p:spPr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F66770BD-F9D7-6C90-6A12-B9373F6A3F5B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485900" y="4324350"/>
                <a:ext cx="1047750" cy="17145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 w="0">
                <a:solidFill>
                  <a:srgbClr val="000000">
                    <a:alpha val="0"/>
                  </a:srgbClr>
                </a:solidFill>
                <a:prstDash val="solid"/>
              </a:ln>
            </p:spPr>
            <p:txBody>
              <a:bodyPr lIns="0" tIns="0" rIns="0" bIns="0" anchor="t"/>
              <a:lstStyle/>
              <a:p>
                <a:pPr>
                  <a:defRPr sz="900" b="1">
                    <a:solidFill>
                      <a:srgbClr val="607862"/>
                    </a:solidFill>
                    <a:latin typeface="Aptos"/>
                    <a:ea typeface="Aptos"/>
                    <a:cs typeface="Aptos"/>
                  </a:defRPr>
                </a:pPr>
                <a:r>
                  <a:rPr lang="en-US" sz="900" b="1">
                    <a:solidFill>
                      <a:srgbClr val="607862"/>
                    </a:solidFill>
                    <a:latin typeface="Aptos"/>
                    <a:ea typeface="Aptos"/>
                    <a:cs typeface="Aptos"/>
                  </a:rPr>
                  <a:t>Phase 4</a:t>
                </a:r>
                <a:endParaRPr sz="900" b="1" dirty="0">
                  <a:solidFill>
                    <a:srgbClr val="607862"/>
                  </a:solidFill>
                  <a:latin typeface="Aptos"/>
                  <a:ea typeface="Aptos"/>
                  <a:cs typeface="Aptos"/>
                </a:endParaRPr>
              </a:p>
            </p:txBody>
          </p:sp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B5546A9F-2C9B-23EC-8D55-6B8ADD71BCFA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491228" y="4625286"/>
                <a:ext cx="2132268" cy="2667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 w="0">
                <a:solidFill>
                  <a:srgbClr val="000000">
                    <a:alpha val="0"/>
                  </a:srgbClr>
                </a:solidFill>
                <a:prstDash val="solid"/>
              </a:ln>
            </p:spPr>
            <p:txBody>
              <a:bodyPr lIns="0" tIns="0" rIns="0" bIns="0" anchor="t"/>
              <a:lstStyle/>
              <a:p>
                <a:pPr algn="l">
                  <a:defRPr sz="1650" b="1">
                    <a:solidFill>
                      <a:srgbClr val="24322D"/>
                    </a:solidFill>
                    <a:latin typeface="Aptos Display"/>
                    <a:ea typeface="Aptos Display"/>
                    <a:cs typeface="Aptos Display"/>
                  </a:defRPr>
                </a:pPr>
                <a:r>
                  <a:rPr lang="en-US" sz="1650" b="1">
                    <a:solidFill>
                      <a:srgbClr val="24322D"/>
                    </a:solidFill>
                    <a:latin typeface="Aptos Display"/>
                  </a:rPr>
                  <a:t>Subscription</a:t>
                </a:r>
                <a:endParaRPr lang="en-US"/>
              </a:p>
            </p:txBody>
          </p:sp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81508CA2-0DF2-9A5B-FDAE-79D2DAABEA2A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485900" y="5112860"/>
                <a:ext cx="1733550" cy="4572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 w="0">
                <a:solidFill>
                  <a:srgbClr val="000000">
                    <a:alpha val="0"/>
                  </a:srgbClr>
                </a:solidFill>
                <a:prstDash val="solid"/>
              </a:ln>
            </p:spPr>
            <p:txBody>
              <a:bodyPr lIns="0" tIns="0" rIns="0" bIns="0" anchor="t"/>
              <a:lstStyle/>
              <a:p>
                <a:pPr>
                  <a:defRPr sz="1050" b="0">
                    <a:solidFill>
                      <a:srgbClr val="52635A"/>
                    </a:solidFill>
                    <a:latin typeface="Aptos"/>
                    <a:ea typeface="Aptos"/>
                    <a:cs typeface="Aptos"/>
                  </a:defRPr>
                </a:pPr>
                <a:r>
                  <a:rPr lang="en-US" sz="1050">
                    <a:solidFill>
                      <a:srgbClr val="52635A"/>
                    </a:solidFill>
                    <a:latin typeface="Aptos"/>
                  </a:rPr>
                  <a:t>Convenience, </a:t>
                </a:r>
                <a:endParaRPr lang="en-US"/>
              </a:p>
              <a:p>
                <a:pPr algn="l">
                  <a:defRPr sz="1050" b="0">
                    <a:solidFill>
                      <a:srgbClr val="52635A"/>
                    </a:solidFill>
                    <a:latin typeface="Aptos"/>
                    <a:ea typeface="Aptos"/>
                    <a:cs typeface="Aptos"/>
                  </a:defRPr>
                </a:pPr>
                <a:r>
                  <a:rPr lang="en-US"/>
                  <a:t>loyalty</a:t>
                </a:r>
                <a:endParaRPr lang="en-US" dirty="0"/>
              </a:p>
            </p:txBody>
          </p:sp>
        </p:grp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B55AB5CB-170A-A372-E3E5-71B0E9C1A865}"/>
                </a:ext>
              </a:extLst>
            </p:cNvPr>
            <p:cNvGrpSpPr/>
            <p:nvPr/>
          </p:nvGrpSpPr>
          <p:grpSpPr>
            <a:xfrm>
              <a:off x="9243343" y="1843444"/>
              <a:ext cx="2366196" cy="1660946"/>
              <a:chOff x="1257300" y="4114800"/>
              <a:chExt cx="2366196" cy="1660946"/>
            </a:xfrm>
          </p:grpSpPr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9506C2BD-EBBC-166C-460C-32DB37EC0B0D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257300" y="4114800"/>
                <a:ext cx="2234978" cy="1660946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CAD8C7"/>
                </a:solidFill>
                <a:prstDash val="solid"/>
              </a:ln>
            </p:spPr>
          </p: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71C18E5E-4604-D960-7CDE-BF4559DB951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485900" y="4324350"/>
                <a:ext cx="1047750" cy="17145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 w="0">
                <a:solidFill>
                  <a:srgbClr val="000000">
                    <a:alpha val="0"/>
                  </a:srgbClr>
                </a:solidFill>
                <a:prstDash val="solid"/>
              </a:ln>
            </p:spPr>
            <p:txBody>
              <a:bodyPr lIns="0" tIns="0" rIns="0" bIns="0" anchor="t"/>
              <a:lstStyle/>
              <a:p>
                <a:pPr algn="l">
                  <a:defRPr sz="900" b="1">
                    <a:solidFill>
                      <a:srgbClr val="607862"/>
                    </a:solidFill>
                    <a:latin typeface="Aptos"/>
                    <a:ea typeface="Aptos"/>
                    <a:cs typeface="Aptos"/>
                  </a:defRPr>
                </a:pPr>
                <a:r>
                  <a:rPr sz="900" b="1">
                    <a:solidFill>
                      <a:srgbClr val="607862"/>
                    </a:solidFill>
                    <a:latin typeface="Aptos"/>
                    <a:ea typeface="Aptos"/>
                    <a:cs typeface="Aptos"/>
                  </a:rPr>
                  <a:t>Phase </a:t>
                </a:r>
                <a:r>
                  <a:rPr lang="en-US" sz="900" b="1">
                    <a:solidFill>
                      <a:srgbClr val="607862"/>
                    </a:solidFill>
                    <a:latin typeface="Aptos"/>
                    <a:ea typeface="Aptos"/>
                    <a:cs typeface="Aptos"/>
                  </a:rPr>
                  <a:t>6</a:t>
                </a:r>
              </a:p>
              <a:p>
                <a:pPr>
                  <a:defRPr sz="900" b="1">
                    <a:solidFill>
                      <a:srgbClr val="607862"/>
                    </a:solidFill>
                    <a:latin typeface="Aptos"/>
                    <a:ea typeface="Aptos"/>
                    <a:cs typeface="Aptos"/>
                  </a:defRPr>
                </a:pPr>
                <a:endParaRPr lang="en-US" sz="900" b="1" dirty="0">
                  <a:solidFill>
                    <a:srgbClr val="607862"/>
                  </a:solidFill>
                  <a:latin typeface="Aptos"/>
                  <a:ea typeface="Aptos"/>
                  <a:cs typeface="Aptos"/>
                </a:endParaRPr>
              </a:p>
            </p:txBody>
          </p:sp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69AFF2AE-0E21-57F5-CC62-32A5A1EC67FD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491228" y="4625286"/>
                <a:ext cx="2132268" cy="2667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 w="0">
                <a:solidFill>
                  <a:srgbClr val="000000">
                    <a:alpha val="0"/>
                  </a:srgbClr>
                </a:solidFill>
                <a:prstDash val="solid"/>
              </a:ln>
            </p:spPr>
            <p:txBody>
              <a:bodyPr lIns="0" tIns="0" rIns="0" bIns="0" anchor="t"/>
              <a:lstStyle/>
              <a:p>
                <a:pPr algn="l">
                  <a:defRPr sz="1650" b="1">
                    <a:solidFill>
                      <a:srgbClr val="24322D"/>
                    </a:solidFill>
                    <a:latin typeface="Aptos Display"/>
                    <a:ea typeface="Aptos Display"/>
                    <a:cs typeface="Aptos Display"/>
                  </a:defRPr>
                </a:pPr>
                <a:r>
                  <a:rPr lang="en-US" sz="1650" b="1">
                    <a:solidFill>
                      <a:srgbClr val="24322D"/>
                    </a:solidFill>
                    <a:latin typeface="Aptos Display"/>
                    <a:ea typeface="Aptos Display"/>
                    <a:cs typeface="Aptos Display"/>
                  </a:rPr>
                  <a:t>Pharmacies</a:t>
                </a:r>
                <a:endParaRPr lang="en-US" sz="1650" b="1" dirty="0">
                  <a:solidFill>
                    <a:srgbClr val="24322D"/>
                  </a:solidFill>
                  <a:latin typeface="Aptos Display"/>
                  <a:ea typeface="Aptos Display"/>
                  <a:cs typeface="Aptos Display"/>
                </a:endParaRPr>
              </a:p>
            </p:txBody>
          </p:sp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5EDB930E-B94C-A496-9350-9A66206C1889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485900" y="5112860"/>
                <a:ext cx="1733550" cy="4572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 w="0">
                <a:solidFill>
                  <a:srgbClr val="000000">
                    <a:alpha val="0"/>
                  </a:srgbClr>
                </a:solidFill>
                <a:prstDash val="solid"/>
              </a:ln>
            </p:spPr>
            <p:txBody>
              <a:bodyPr lIns="0" tIns="0" rIns="0" bIns="0" anchor="t"/>
              <a:lstStyle/>
              <a:p>
                <a:pPr>
                  <a:defRPr sz="1050" b="0">
                    <a:solidFill>
                      <a:srgbClr val="52635A"/>
                    </a:solidFill>
                    <a:latin typeface="Aptos"/>
                    <a:ea typeface="Aptos"/>
                    <a:cs typeface="Aptos"/>
                  </a:defRPr>
                </a:pPr>
                <a:r>
                  <a:rPr lang="en-US" sz="1050">
                    <a:solidFill>
                      <a:srgbClr val="52635A"/>
                    </a:solidFill>
                    <a:latin typeface="Aptos"/>
                  </a:rPr>
                  <a:t>Offline trust, </a:t>
                </a:r>
                <a:endParaRPr lang="en-US"/>
              </a:p>
              <a:p>
                <a:pPr>
                  <a:defRPr sz="1050" b="0">
                    <a:solidFill>
                      <a:srgbClr val="52635A"/>
                    </a:solidFill>
                    <a:latin typeface="Aptos"/>
                    <a:ea typeface="Aptos"/>
                    <a:cs typeface="Aptos"/>
                  </a:defRPr>
                </a:pPr>
                <a:r>
                  <a:rPr lang="en-US"/>
                  <a:t>Mass reach</a:t>
                </a:r>
                <a:endParaRPr lang="en-US" dirty="0"/>
              </a:p>
            </p:txBody>
          </p:sp>
        </p:grp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EA577957-3BB2-EDAA-CF58-6F968867AB4A}"/>
                </a:ext>
              </a:extLst>
            </p:cNvPr>
            <p:cNvGrpSpPr/>
            <p:nvPr/>
          </p:nvGrpSpPr>
          <p:grpSpPr>
            <a:xfrm>
              <a:off x="7763818" y="3956199"/>
              <a:ext cx="2366196" cy="1660946"/>
              <a:chOff x="1257300" y="4114800"/>
              <a:chExt cx="2366196" cy="1660946"/>
            </a:xfrm>
          </p:grpSpPr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4344820C-1D44-5C41-8903-5569FE9A7C54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257300" y="4114800"/>
                <a:ext cx="2234978" cy="1660946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CAD8C7"/>
                </a:solidFill>
                <a:prstDash val="solid"/>
              </a:ln>
            </p:spPr>
          </p:sp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890B8328-A609-1938-9303-4C9707C175EC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485900" y="4324350"/>
                <a:ext cx="1047750" cy="17145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 w="0">
                <a:solidFill>
                  <a:srgbClr val="000000">
                    <a:alpha val="0"/>
                  </a:srgbClr>
                </a:solidFill>
                <a:prstDash val="solid"/>
              </a:ln>
            </p:spPr>
            <p:txBody>
              <a:bodyPr lIns="0" tIns="0" rIns="0" bIns="0" anchor="t"/>
              <a:lstStyle/>
              <a:p>
                <a:pPr algn="l">
                  <a:defRPr sz="900" b="1">
                    <a:solidFill>
                      <a:srgbClr val="607862"/>
                    </a:solidFill>
                    <a:latin typeface="Aptos"/>
                    <a:ea typeface="Aptos"/>
                    <a:cs typeface="Aptos"/>
                  </a:defRPr>
                </a:pPr>
                <a:r>
                  <a:rPr sz="900" b="1">
                    <a:solidFill>
                      <a:srgbClr val="607862"/>
                    </a:solidFill>
                    <a:latin typeface="Aptos"/>
                    <a:ea typeface="Aptos"/>
                    <a:cs typeface="Aptos"/>
                  </a:rPr>
                  <a:t>Phase </a:t>
                </a:r>
                <a:r>
                  <a:rPr lang="en-US" sz="900" b="1">
                    <a:solidFill>
                      <a:srgbClr val="607862"/>
                    </a:solidFill>
                    <a:latin typeface="Aptos"/>
                    <a:ea typeface="Aptos"/>
                    <a:cs typeface="Aptos"/>
                  </a:rPr>
                  <a:t>5</a:t>
                </a:r>
                <a:endParaRPr sz="900" b="1">
                  <a:solidFill>
                    <a:srgbClr val="607862"/>
                  </a:solidFill>
                  <a:latin typeface="Aptos"/>
                  <a:ea typeface="Aptos"/>
                  <a:cs typeface="Aptos"/>
                </a:endParaRPr>
              </a:p>
            </p:txBody>
          </p:sp>
          <p:pic>
            <p:nvPicPr>
              <p:cNvPr id="58" name="Graphic 57">
                <a:extLst>
                  <a:ext uri="{FF2B5EF4-FFF2-40B4-BE49-F238E27FC236}">
                    <a16:creationId xmlns:a16="http://schemas.microsoft.com/office/drawing/2014/main" id="{C204F664-C885-326F-B7FF-B0CDA553A6C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/>
            </p:blipFill>
            <p:spPr>
              <a:xfrm>
                <a:off x="2976329" y="4217776"/>
                <a:ext cx="304800" cy="304800"/>
              </a:xfrm>
              <a:prstGeom prst="rect">
                <a:avLst/>
              </a:prstGeom>
            </p:spPr>
          </p:pic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875B4D3D-84F8-6F38-A4F4-409FB1926B8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491228" y="4625286"/>
                <a:ext cx="2132268" cy="2667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 w="0">
                <a:solidFill>
                  <a:srgbClr val="000000">
                    <a:alpha val="0"/>
                  </a:srgbClr>
                </a:solidFill>
                <a:prstDash val="solid"/>
              </a:ln>
            </p:spPr>
            <p:txBody>
              <a:bodyPr lIns="0" tIns="0" rIns="0" bIns="0" anchor="t"/>
              <a:lstStyle/>
              <a:p>
                <a:pPr algn="l">
                  <a:defRPr sz="1650" b="1">
                    <a:solidFill>
                      <a:srgbClr val="24322D"/>
                    </a:solidFill>
                    <a:latin typeface="Aptos Display"/>
                    <a:ea typeface="Aptos Display"/>
                    <a:cs typeface="Aptos Display"/>
                  </a:defRPr>
                </a:pPr>
                <a:r>
                  <a:rPr lang="en-US" sz="1650" b="1">
                    <a:solidFill>
                      <a:srgbClr val="24322D"/>
                    </a:solidFill>
                    <a:latin typeface="Aptos Display"/>
                  </a:rPr>
                  <a:t>Community</a:t>
                </a:r>
                <a:endParaRPr lang="en-US"/>
              </a:p>
            </p:txBody>
          </p:sp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E94D70AB-B4E5-C9D9-6443-69B8BC2366F3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485900" y="5112860"/>
                <a:ext cx="1733550" cy="4572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 w="0">
                <a:solidFill>
                  <a:srgbClr val="000000">
                    <a:alpha val="0"/>
                  </a:srgbClr>
                </a:solidFill>
                <a:prstDash val="solid"/>
              </a:ln>
            </p:spPr>
            <p:txBody>
              <a:bodyPr lIns="0" tIns="0" rIns="0" bIns="0" anchor="t"/>
              <a:lstStyle/>
              <a:p>
                <a:pPr>
                  <a:defRPr sz="1050" b="0">
                    <a:solidFill>
                      <a:srgbClr val="52635A"/>
                    </a:solidFill>
                    <a:latin typeface="Aptos"/>
                    <a:ea typeface="Aptos"/>
                    <a:cs typeface="Aptos"/>
                  </a:defRPr>
                </a:pPr>
                <a:r>
                  <a:rPr lang="en-US" sz="1050">
                    <a:solidFill>
                      <a:srgbClr val="52635A"/>
                    </a:solidFill>
                    <a:latin typeface="Aptos"/>
                  </a:rPr>
                  <a:t>Advocacy,</a:t>
                </a:r>
                <a:endParaRPr lang="en-US"/>
              </a:p>
              <a:p>
                <a:pPr>
                  <a:defRPr sz="1050" b="0">
                    <a:solidFill>
                      <a:srgbClr val="52635A"/>
                    </a:solidFill>
                    <a:latin typeface="Aptos"/>
                    <a:ea typeface="Aptos"/>
                    <a:cs typeface="Aptos"/>
                  </a:defRPr>
                </a:pPr>
                <a:r>
                  <a:rPr lang="en-US"/>
                  <a:t>emotional bond</a:t>
                </a:r>
                <a:endParaRPr lang="en-US" dirty="0"/>
              </a:p>
            </p:txBody>
          </p:sp>
        </p:grp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3683A09C-A576-C300-BB34-0F63597CCCCF}"/>
                </a:ext>
              </a:extLst>
            </p:cNvPr>
            <p:cNvSpPr>
              <a:spLocks noGrp="1"/>
            </p:cNvSpPr>
            <p:nvPr/>
          </p:nvSpPr>
          <p:spPr>
            <a:xfrm>
              <a:off x="8622000" y="3517582"/>
              <a:ext cx="266700" cy="266700"/>
            </a:xfrm>
            <a:prstGeom prst="ellipse">
              <a:avLst/>
            </a:prstGeom>
            <a:solidFill>
              <a:srgbClr val="607862"/>
            </a:solidFill>
            <a:ln w="0">
              <a:solidFill>
                <a:srgbClr val="000000">
                  <a:alpha val="0"/>
                </a:srgbClr>
              </a:solidFill>
              <a:prstDash val="solid"/>
            </a:ln>
          </p:spPr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8DB49C64-D460-7036-3570-DB00DF84500D}"/>
                </a:ext>
              </a:extLst>
            </p:cNvPr>
            <p:cNvSpPr>
              <a:spLocks noGrp="1"/>
            </p:cNvSpPr>
            <p:nvPr/>
          </p:nvSpPr>
          <p:spPr>
            <a:xfrm>
              <a:off x="3328839" y="3612240"/>
              <a:ext cx="266700" cy="266700"/>
            </a:xfrm>
            <a:prstGeom prst="ellipse">
              <a:avLst/>
            </a:prstGeom>
            <a:solidFill>
              <a:srgbClr val="607862"/>
            </a:solidFill>
            <a:ln w="0">
              <a:solidFill>
                <a:srgbClr val="000000">
                  <a:alpha val="0"/>
                </a:srgbClr>
              </a:solidFill>
              <a:prstDash val="solid"/>
            </a:ln>
          </p:spPr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60159ED7-3E5A-2BB3-CDEA-10F5393A6864}"/>
                </a:ext>
              </a:extLst>
            </p:cNvPr>
            <p:cNvSpPr>
              <a:spLocks noGrp="1"/>
            </p:cNvSpPr>
            <p:nvPr/>
          </p:nvSpPr>
          <p:spPr>
            <a:xfrm>
              <a:off x="6927818" y="3601582"/>
              <a:ext cx="266700" cy="266700"/>
            </a:xfrm>
            <a:prstGeom prst="ellipse">
              <a:avLst/>
            </a:prstGeom>
            <a:solidFill>
              <a:srgbClr val="607862"/>
            </a:solidFill>
            <a:ln w="0">
              <a:solidFill>
                <a:srgbClr val="000000">
                  <a:alpha val="0"/>
                </a:srgbClr>
              </a:solidFill>
              <a:prstDash val="solid"/>
            </a:ln>
          </p:spPr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644FB9B3-FF50-76D0-8649-8FBF36D55597}"/>
                </a:ext>
              </a:extLst>
            </p:cNvPr>
            <p:cNvSpPr>
              <a:spLocks noGrp="1"/>
            </p:cNvSpPr>
            <p:nvPr/>
          </p:nvSpPr>
          <p:spPr>
            <a:xfrm>
              <a:off x="10485189" y="3610897"/>
              <a:ext cx="266700" cy="266700"/>
            </a:xfrm>
            <a:prstGeom prst="ellipse">
              <a:avLst/>
            </a:prstGeom>
            <a:solidFill>
              <a:srgbClr val="607862"/>
            </a:solidFill>
            <a:ln w="0">
              <a:solidFill>
                <a:srgbClr val="000000">
                  <a:alpha val="0"/>
                </a:srgbClr>
              </a:solidFill>
              <a:prstDash val="solid"/>
            </a:ln>
          </p:spPr>
        </p: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7A8E67D7-070F-B8E7-F85F-CF7E5ACE9E56}"/>
                </a:ext>
              </a:extLst>
            </p:cNvPr>
            <p:cNvCxnSpPr/>
            <p:nvPr/>
          </p:nvCxnSpPr>
          <p:spPr>
            <a:xfrm flipH="1">
              <a:off x="1507388" y="3744769"/>
              <a:ext cx="16424" cy="410610"/>
            </a:xfrm>
            <a:prstGeom prst="straightConnector1">
              <a:avLst/>
            </a:prstGeom>
            <a:ln>
              <a:solidFill>
                <a:srgbClr val="60786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1550ACE0-77D4-FA9E-C660-7333172B73DF}"/>
                </a:ext>
              </a:extLst>
            </p:cNvPr>
            <p:cNvCxnSpPr/>
            <p:nvPr/>
          </p:nvCxnSpPr>
          <p:spPr>
            <a:xfrm flipV="1">
              <a:off x="3456737" y="3375220"/>
              <a:ext cx="12818" cy="344912"/>
            </a:xfrm>
            <a:prstGeom prst="straightConnector1">
              <a:avLst/>
            </a:prstGeom>
            <a:ln>
              <a:solidFill>
                <a:srgbClr val="60786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Arrow Connector 67">
              <a:extLst>
                <a:ext uri="{FF2B5EF4-FFF2-40B4-BE49-F238E27FC236}">
                  <a16:creationId xmlns:a16="http://schemas.microsoft.com/office/drawing/2014/main" id="{2EFE7054-06E2-17BD-21E4-3CE9FA531F1A}"/>
                </a:ext>
              </a:extLst>
            </p:cNvPr>
            <p:cNvCxnSpPr/>
            <p:nvPr/>
          </p:nvCxnSpPr>
          <p:spPr>
            <a:xfrm flipH="1">
              <a:off x="5370087" y="3770042"/>
              <a:ext cx="12818" cy="361337"/>
            </a:xfrm>
            <a:prstGeom prst="straightConnector1">
              <a:avLst/>
            </a:prstGeom>
            <a:ln>
              <a:solidFill>
                <a:srgbClr val="60786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D5367A08-6FCE-7529-1B3D-713B400969BE}"/>
                </a:ext>
              </a:extLst>
            </p:cNvPr>
            <p:cNvCxnSpPr/>
            <p:nvPr/>
          </p:nvCxnSpPr>
          <p:spPr>
            <a:xfrm flipV="1">
              <a:off x="7078800" y="3367007"/>
              <a:ext cx="12818" cy="312064"/>
            </a:xfrm>
            <a:prstGeom prst="straightConnector1">
              <a:avLst/>
            </a:prstGeom>
            <a:ln>
              <a:solidFill>
                <a:srgbClr val="60786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Arrow Connector 69">
              <a:extLst>
                <a:ext uri="{FF2B5EF4-FFF2-40B4-BE49-F238E27FC236}">
                  <a16:creationId xmlns:a16="http://schemas.microsoft.com/office/drawing/2014/main" id="{9B589D65-5425-FD9C-659E-41D860060FC7}"/>
                </a:ext>
              </a:extLst>
            </p:cNvPr>
            <p:cNvCxnSpPr/>
            <p:nvPr/>
          </p:nvCxnSpPr>
          <p:spPr>
            <a:xfrm>
              <a:off x="8737905" y="3660769"/>
              <a:ext cx="12818" cy="394186"/>
            </a:xfrm>
            <a:prstGeom prst="straightConnector1">
              <a:avLst/>
            </a:prstGeom>
            <a:ln>
              <a:solidFill>
                <a:srgbClr val="60786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Arrow Connector 70">
              <a:extLst>
                <a:ext uri="{FF2B5EF4-FFF2-40B4-BE49-F238E27FC236}">
                  <a16:creationId xmlns:a16="http://schemas.microsoft.com/office/drawing/2014/main" id="{E8E55E4F-3AC5-D804-B9D6-6EBF5D4E6307}"/>
                </a:ext>
              </a:extLst>
            </p:cNvPr>
            <p:cNvCxnSpPr/>
            <p:nvPr/>
          </p:nvCxnSpPr>
          <p:spPr>
            <a:xfrm flipH="1" flipV="1">
              <a:off x="10595409" y="3346795"/>
              <a:ext cx="12818" cy="427035"/>
            </a:xfrm>
            <a:prstGeom prst="straightConnector1">
              <a:avLst/>
            </a:prstGeom>
            <a:ln>
              <a:solidFill>
                <a:srgbClr val="60786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72" name="Graphic 71" descr="Internet with solid fill">
              <a:extLst>
                <a:ext uri="{FF2B5EF4-FFF2-40B4-BE49-F238E27FC236}">
                  <a16:creationId xmlns:a16="http://schemas.microsoft.com/office/drawing/2014/main" id="{F5080807-5550-904E-06DA-B7E735ED3F6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590800" y="4225800"/>
              <a:ext cx="632400" cy="620400"/>
            </a:xfrm>
            <a:prstGeom prst="rect">
              <a:avLst/>
            </a:prstGeom>
          </p:spPr>
        </p:pic>
        <p:pic>
          <p:nvPicPr>
            <p:cNvPr id="73" name="Graphic 72" descr="Credit card with solid fill">
              <a:extLst>
                <a:ext uri="{FF2B5EF4-FFF2-40B4-BE49-F238E27FC236}">
                  <a16:creationId xmlns:a16="http://schemas.microsoft.com/office/drawing/2014/main" id="{DB172412-46BD-C5D4-582D-F7E12EFB594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503675" y="2028675"/>
              <a:ext cx="482400" cy="482400"/>
            </a:xfrm>
            <a:prstGeom prst="rect">
              <a:avLst/>
            </a:prstGeom>
          </p:spPr>
        </p:pic>
        <p:pic>
          <p:nvPicPr>
            <p:cNvPr id="74" name="Graphic 73" descr="Store with solid fill">
              <a:extLst>
                <a:ext uri="{FF2B5EF4-FFF2-40B4-BE49-F238E27FC236}">
                  <a16:creationId xmlns:a16="http://schemas.microsoft.com/office/drawing/2014/main" id="{FCE07DDD-C05F-49A8-EE56-5CC036AC29F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880550" y="2015550"/>
              <a:ext cx="542400" cy="596400"/>
            </a:xfrm>
            <a:prstGeom prst="rect">
              <a:avLst/>
            </a:prstGeom>
          </p:spPr>
        </p:pic>
        <p:pic>
          <p:nvPicPr>
            <p:cNvPr id="75" name="Graphic 74" descr="Box with solid fill">
              <a:extLst>
                <a:ext uri="{FF2B5EF4-FFF2-40B4-BE49-F238E27FC236}">
                  <a16:creationId xmlns:a16="http://schemas.microsoft.com/office/drawing/2014/main" id="{0301ACC5-CCBD-41E8-22C2-7692FED0FF4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009425" y="2062425"/>
              <a:ext cx="566400" cy="560400"/>
            </a:xfrm>
            <a:prstGeom prst="rect">
              <a:avLst/>
            </a:prstGeom>
          </p:spPr>
        </p:pic>
        <p:pic>
          <p:nvPicPr>
            <p:cNvPr id="76" name="Graphic 75" descr="Connections with solid fill">
              <a:extLst>
                <a:ext uri="{FF2B5EF4-FFF2-40B4-BE49-F238E27FC236}">
                  <a16:creationId xmlns:a16="http://schemas.microsoft.com/office/drawing/2014/main" id="{2BC3BC5E-B8EC-EECF-F195-58FEB6C1524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896300" y="4143300"/>
              <a:ext cx="650400" cy="644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448726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F1818C8B-0F3B-42C7-A800-4C38FE2FDCC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6-marker">
            <a:extLst>
              <a:ext uri="{FF2B5EF4-FFF2-40B4-BE49-F238E27FC236}">
                <a16:creationId xmlns:a16="http://schemas.microsoft.com/office/drawing/2014/main" id="{7F703562-151B-4696-9950-5EE5029B32C8}"/>
              </a:ext>
            </a:extLst>
          </p:cNvPr>
          <p:cNvSpPr>
            <a:spLocks noGrp="1"/>
          </p:cNvSpPr>
          <p:nvPr/>
        </p:nvSpPr>
        <p:spPr>
          <a:xfrm>
            <a:off x="666750" y="533400"/>
            <a:ext cx="209550" cy="19050"/>
          </a:xfrm>
          <a:prstGeom prst="rect">
            <a:avLst/>
          </a:prstGeom>
          <a:solidFill>
            <a:srgbClr val="60786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6-label">
            <a:extLst>
              <a:ext uri="{FF2B5EF4-FFF2-40B4-BE49-F238E27FC236}">
                <a16:creationId xmlns:a16="http://schemas.microsoft.com/office/drawing/2014/main" id="{FF3FB25E-F616-43DE-8B3C-639DD85C429D}"/>
              </a:ext>
            </a:extLst>
          </p:cNvPr>
          <p:cNvSpPr>
            <a:spLocks noGrp="1"/>
          </p:cNvSpPr>
          <p:nvPr/>
        </p:nvSpPr>
        <p:spPr>
          <a:xfrm>
            <a:off x="990600" y="457200"/>
            <a:ext cx="2476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750" b="1">
                <a:solidFill>
                  <a:srgbClr val="60786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07862"/>
                </a:solidFill>
                <a:latin typeface="Aptos"/>
                <a:ea typeface="Aptos"/>
                <a:cs typeface="Aptos"/>
              </a:rPr>
              <a:t>MANUFACTURING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5CCBE5F-E36B-4F8B-A8D6-215116E348ED}"/>
              </a:ext>
            </a:extLst>
          </p:cNvPr>
          <p:cNvSpPr>
            <a:spLocks noGrp="1"/>
          </p:cNvSpPr>
          <p:nvPr/>
        </p:nvSpPr>
        <p:spPr>
          <a:xfrm>
            <a:off x="666750" y="876300"/>
            <a:ext cx="809625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24322D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4322D"/>
                </a:solidFill>
                <a:latin typeface="Aptos Display"/>
                <a:ea typeface="Aptos Display"/>
                <a:cs typeface="Aptos Display"/>
              </a:rPr>
              <a:t>Build the brand and customer system before owning factories.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57435F9-CD69-460B-870F-608518CA8395}"/>
              </a:ext>
            </a:extLst>
          </p:cNvPr>
          <p:cNvSpPr>
            <a:spLocks noGrp="1"/>
          </p:cNvSpPr>
          <p:nvPr/>
        </p:nvSpPr>
        <p:spPr>
          <a:xfrm>
            <a:off x="685800" y="1943100"/>
            <a:ext cx="657225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52635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2635A"/>
                </a:solidFill>
                <a:latin typeface="Aptos"/>
                <a:ea typeface="Aptos"/>
                <a:cs typeface="Aptos"/>
              </a:rPr>
              <a:t>Contract manufacturing keeps capital focused on product quality, learning and distribution.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D846D9-AD00-488B-8630-61453D705CD8}"/>
              </a:ext>
            </a:extLst>
          </p:cNvPr>
          <p:cNvSpPr>
            <a:spLocks noGrp="1"/>
          </p:cNvSpPr>
          <p:nvPr/>
        </p:nvSpPr>
        <p:spPr>
          <a:xfrm>
            <a:off x="876300" y="3333750"/>
            <a:ext cx="1809750" cy="1655618"/>
          </a:xfrm>
          <a:prstGeom prst="rect">
            <a:avLst/>
          </a:prstGeom>
          <a:solidFill>
            <a:srgbClr val="FFFFFF"/>
          </a:solidFill>
          <a:ln w="9525">
            <a:solidFill>
              <a:srgbClr val="CAD8C7"/>
            </a:solidFill>
            <a:prstDash val="solid"/>
          </a:ln>
        </p:spPr>
      </p:sp>
      <p:pic>
        <p:nvPicPr>
          <p:cNvPr id="7" name="Graphic 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104900" y="3581400"/>
            <a:ext cx="323850" cy="32385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FD573B1-7AE9-4726-A70C-D4F635339993}"/>
              </a:ext>
            </a:extLst>
          </p:cNvPr>
          <p:cNvSpPr>
            <a:spLocks noGrp="1"/>
          </p:cNvSpPr>
          <p:nvPr/>
        </p:nvSpPr>
        <p:spPr>
          <a:xfrm>
            <a:off x="1104900" y="4000500"/>
            <a:ext cx="1352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24322D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24322D"/>
                </a:solidFill>
                <a:latin typeface="Aptos Display"/>
                <a:ea typeface="Aptos Display"/>
                <a:cs typeface="Aptos Display"/>
              </a:rPr>
              <a:t>Luvia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90401A7-62C3-4222-84D1-47FEDC934C0A}"/>
              </a:ext>
            </a:extLst>
          </p:cNvPr>
          <p:cNvSpPr>
            <a:spLocks noGrp="1"/>
          </p:cNvSpPr>
          <p:nvPr/>
        </p:nvSpPr>
        <p:spPr>
          <a:xfrm>
            <a:off x="1104900" y="4305300"/>
            <a:ext cx="13716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marL="171450" indent="-171450" algn="l">
              <a:buFont typeface="Calibri"/>
              <a:buChar char="-"/>
              <a:defRPr sz="975" b="0">
                <a:solidFill>
                  <a:srgbClr val="52635A"/>
                </a:solidFill>
                <a:latin typeface="Aptos"/>
                <a:ea typeface="Aptos"/>
                <a:cs typeface="Aptos"/>
              </a:defRPr>
            </a:pPr>
            <a:r>
              <a:rPr sz="950" b="0">
                <a:solidFill>
                  <a:srgbClr val="52635A"/>
                </a:solidFill>
                <a:latin typeface="Aptos"/>
                <a:ea typeface="Aptos"/>
                <a:cs typeface="Aptos"/>
              </a:rPr>
              <a:t>Product specs</a:t>
            </a:r>
            <a:endParaRPr lang="en-US"/>
          </a:p>
          <a:p>
            <a:pPr marL="171450" indent="-171450" algn="l">
              <a:buFont typeface="Calibri"/>
              <a:buChar char="-"/>
              <a:defRPr sz="975" b="0">
                <a:solidFill>
                  <a:srgbClr val="52635A"/>
                </a:solidFill>
                <a:latin typeface="Aptos"/>
                <a:ea typeface="Aptos"/>
                <a:cs typeface="Aptos"/>
              </a:defRPr>
            </a:pPr>
            <a:r>
              <a:rPr sz="950" b="0">
                <a:solidFill>
                  <a:srgbClr val="52635A"/>
                </a:solidFill>
                <a:latin typeface="Aptos"/>
                <a:ea typeface="Aptos"/>
                <a:cs typeface="Aptos"/>
              </a:rPr>
              <a:t>Brand</a:t>
            </a:r>
          </a:p>
          <a:p>
            <a:pPr marL="171450" indent="-171450" algn="l">
              <a:buFont typeface="Calibri"/>
              <a:buChar char="-"/>
              <a:defRPr sz="975" b="0">
                <a:solidFill>
                  <a:srgbClr val="52635A"/>
                </a:solidFill>
                <a:latin typeface="Aptos"/>
                <a:ea typeface="Aptos"/>
                <a:cs typeface="Aptos"/>
              </a:defRPr>
            </a:pPr>
            <a:r>
              <a:rPr sz="950" b="0">
                <a:solidFill>
                  <a:srgbClr val="52635A"/>
                </a:solidFill>
                <a:latin typeface="Aptos"/>
                <a:ea typeface="Aptos"/>
                <a:cs typeface="Aptos"/>
              </a:rPr>
              <a:t>Customer learning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AC54F1-5C02-4683-B113-F77AF2BF9E63}"/>
              </a:ext>
            </a:extLst>
          </p:cNvPr>
          <p:cNvSpPr>
            <a:spLocks noGrp="1"/>
          </p:cNvSpPr>
          <p:nvPr/>
        </p:nvSpPr>
        <p:spPr>
          <a:xfrm>
            <a:off x="3829050" y="3333750"/>
            <a:ext cx="1809750" cy="1639632"/>
          </a:xfrm>
          <a:prstGeom prst="rect">
            <a:avLst/>
          </a:prstGeom>
          <a:solidFill>
            <a:srgbClr val="FFFFFF"/>
          </a:solidFill>
          <a:ln w="9525">
            <a:solidFill>
              <a:srgbClr val="CAD8C7"/>
            </a:solidFill>
            <a:prstDash val="solid"/>
          </a:ln>
        </p:spPr>
      </p:sp>
      <p:pic>
        <p:nvPicPr>
          <p:cNvPr id="11" name="Graphic 1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4057650" y="3581400"/>
            <a:ext cx="323850" cy="32385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325E6CB1-A006-4905-942B-60E9C9946B25}"/>
              </a:ext>
            </a:extLst>
          </p:cNvPr>
          <p:cNvSpPr>
            <a:spLocks noGrp="1"/>
          </p:cNvSpPr>
          <p:nvPr/>
        </p:nvSpPr>
        <p:spPr>
          <a:xfrm>
            <a:off x="4057650" y="4000500"/>
            <a:ext cx="1352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24322D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24322D"/>
                </a:solidFill>
                <a:latin typeface="Aptos Display"/>
                <a:ea typeface="Aptos Display"/>
                <a:cs typeface="Aptos Display"/>
              </a:rPr>
              <a:t>Contract manufacturer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7413AE8-9DD6-4461-A03E-4DBF5B6CE1BB}"/>
              </a:ext>
            </a:extLst>
          </p:cNvPr>
          <p:cNvSpPr>
            <a:spLocks noGrp="1"/>
          </p:cNvSpPr>
          <p:nvPr/>
        </p:nvSpPr>
        <p:spPr>
          <a:xfrm>
            <a:off x="4057650" y="4454503"/>
            <a:ext cx="13716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marL="171450" indent="-171450" algn="l">
              <a:buFont typeface="Calibri"/>
              <a:buChar char="-"/>
              <a:defRPr sz="975" b="0">
                <a:solidFill>
                  <a:srgbClr val="52635A"/>
                </a:solidFill>
                <a:latin typeface="Aptos"/>
                <a:ea typeface="Aptos"/>
                <a:cs typeface="Aptos"/>
              </a:defRPr>
            </a:pPr>
            <a:r>
              <a:rPr sz="950" b="0">
                <a:solidFill>
                  <a:srgbClr val="52635A"/>
                </a:solidFill>
                <a:latin typeface="Aptos"/>
                <a:ea typeface="Aptos"/>
                <a:cs typeface="Aptos"/>
              </a:rPr>
              <a:t>Tooling</a:t>
            </a:r>
            <a:endParaRPr lang="en-US"/>
          </a:p>
          <a:p>
            <a:pPr marL="171450" indent="-171450" algn="l">
              <a:buFont typeface="Calibri"/>
              <a:buChar char="-"/>
              <a:defRPr sz="975" b="0">
                <a:solidFill>
                  <a:srgbClr val="52635A"/>
                </a:solidFill>
                <a:latin typeface="Aptos"/>
                <a:ea typeface="Aptos"/>
                <a:cs typeface="Aptos"/>
              </a:defRPr>
            </a:pPr>
            <a:r>
              <a:rPr sz="950" b="0">
                <a:solidFill>
                  <a:srgbClr val="52635A"/>
                </a:solidFill>
                <a:latin typeface="Aptos"/>
                <a:ea typeface="Aptos"/>
                <a:cs typeface="Aptos"/>
              </a:rPr>
              <a:t>Materials</a:t>
            </a:r>
          </a:p>
          <a:p>
            <a:pPr marL="171450" indent="-171450" algn="l">
              <a:buFont typeface="Calibri"/>
              <a:buChar char="-"/>
              <a:defRPr sz="975" b="0">
                <a:solidFill>
                  <a:srgbClr val="52635A"/>
                </a:solidFill>
                <a:latin typeface="Aptos"/>
                <a:ea typeface="Aptos"/>
                <a:cs typeface="Aptos"/>
              </a:defRPr>
            </a:pPr>
            <a:r>
              <a:rPr sz="950" b="0">
                <a:solidFill>
                  <a:srgbClr val="52635A"/>
                </a:solidFill>
                <a:latin typeface="Aptos"/>
                <a:ea typeface="Aptos"/>
                <a:cs typeface="Aptos"/>
              </a:rPr>
              <a:t>Production run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62BB275-C460-4231-ABDA-5428F43ABC5A}"/>
              </a:ext>
            </a:extLst>
          </p:cNvPr>
          <p:cNvSpPr>
            <a:spLocks noGrp="1"/>
          </p:cNvSpPr>
          <p:nvPr/>
        </p:nvSpPr>
        <p:spPr>
          <a:xfrm>
            <a:off x="6781800" y="3333750"/>
            <a:ext cx="1809750" cy="1650289"/>
          </a:xfrm>
          <a:prstGeom prst="rect">
            <a:avLst/>
          </a:prstGeom>
          <a:solidFill>
            <a:srgbClr val="FFFFFF"/>
          </a:solidFill>
          <a:ln w="9525">
            <a:solidFill>
              <a:srgbClr val="CAD8C7"/>
            </a:solidFill>
            <a:prstDash val="solid"/>
          </a:ln>
        </p:spPr>
      </p:sp>
      <p:pic>
        <p:nvPicPr>
          <p:cNvPr id="15" name="Graphic 1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7010400" y="3581400"/>
            <a:ext cx="323850" cy="32385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0CB390C4-FA18-4B1F-8F12-70515ED470F2}"/>
              </a:ext>
            </a:extLst>
          </p:cNvPr>
          <p:cNvSpPr>
            <a:spLocks noGrp="1"/>
          </p:cNvSpPr>
          <p:nvPr/>
        </p:nvSpPr>
        <p:spPr>
          <a:xfrm>
            <a:off x="7010400" y="4000500"/>
            <a:ext cx="1352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24322D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24322D"/>
                </a:solidFill>
                <a:latin typeface="Aptos Display"/>
                <a:ea typeface="Aptos Display"/>
                <a:cs typeface="Aptos Display"/>
              </a:rPr>
              <a:t>Quality loop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D43698F-9E3D-44C5-8911-AA4D4342950C}"/>
              </a:ext>
            </a:extLst>
          </p:cNvPr>
          <p:cNvSpPr>
            <a:spLocks noGrp="1"/>
          </p:cNvSpPr>
          <p:nvPr/>
        </p:nvSpPr>
        <p:spPr>
          <a:xfrm>
            <a:off x="7010400" y="4305300"/>
            <a:ext cx="13716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marL="171450" indent="-171450" algn="l">
              <a:buFont typeface="Calibri"/>
              <a:buChar char="-"/>
              <a:defRPr sz="975" b="0">
                <a:solidFill>
                  <a:srgbClr val="52635A"/>
                </a:solidFill>
                <a:latin typeface="Aptos"/>
                <a:ea typeface="Aptos"/>
                <a:cs typeface="Aptos"/>
              </a:defRPr>
            </a:pPr>
            <a:r>
              <a:rPr sz="950" b="0">
                <a:solidFill>
                  <a:srgbClr val="52635A"/>
                </a:solidFill>
                <a:latin typeface="Aptos"/>
                <a:ea typeface="Aptos"/>
                <a:cs typeface="Aptos"/>
              </a:rPr>
              <a:t>Skin-comfort tests</a:t>
            </a:r>
            <a:endParaRPr lang="en-US"/>
          </a:p>
          <a:p>
            <a:pPr marL="171450" indent="-171450" algn="l">
              <a:buFont typeface="Calibri"/>
              <a:buChar char="-"/>
              <a:defRPr sz="975" b="0">
                <a:solidFill>
                  <a:srgbClr val="52635A"/>
                </a:solidFill>
                <a:latin typeface="Aptos"/>
                <a:ea typeface="Aptos"/>
                <a:cs typeface="Aptos"/>
              </a:defRPr>
            </a:pPr>
            <a:r>
              <a:rPr sz="950" b="0">
                <a:solidFill>
                  <a:srgbClr val="52635A"/>
                </a:solidFill>
                <a:latin typeface="Aptos"/>
                <a:ea typeface="Aptos"/>
                <a:cs typeface="Aptos"/>
              </a:rPr>
              <a:t>Fit feedback</a:t>
            </a:r>
          </a:p>
          <a:p>
            <a:pPr marL="171450" indent="-171450" algn="l">
              <a:buFont typeface="Calibri"/>
              <a:buChar char="-"/>
              <a:defRPr sz="975" b="0">
                <a:solidFill>
                  <a:srgbClr val="52635A"/>
                </a:solidFill>
                <a:latin typeface="Aptos"/>
                <a:ea typeface="Aptos"/>
                <a:cs typeface="Aptos"/>
              </a:defRPr>
            </a:pPr>
            <a:r>
              <a:rPr lang="en-US" sz="950">
                <a:solidFill>
                  <a:srgbClr val="52635A"/>
                </a:solidFill>
                <a:latin typeface="Aptos"/>
                <a:ea typeface="Aptos"/>
                <a:cs typeface="Aptos"/>
              </a:rPr>
              <a:t>Batch</a:t>
            </a:r>
            <a:r>
              <a:rPr sz="950" b="0">
                <a:solidFill>
                  <a:srgbClr val="52635A"/>
                </a:solidFill>
                <a:latin typeface="Aptos"/>
                <a:ea typeface="Aptos"/>
                <a:cs typeface="Aptos"/>
              </a:rPr>
              <a:t> checks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FA18496-A9D0-460A-A8DF-F7FF8E891F2E}"/>
              </a:ext>
            </a:extLst>
          </p:cNvPr>
          <p:cNvSpPr>
            <a:spLocks noGrp="1"/>
          </p:cNvSpPr>
          <p:nvPr/>
        </p:nvSpPr>
        <p:spPr>
          <a:xfrm>
            <a:off x="9734550" y="3333750"/>
            <a:ext cx="1809750" cy="1655618"/>
          </a:xfrm>
          <a:prstGeom prst="rect">
            <a:avLst/>
          </a:prstGeom>
          <a:solidFill>
            <a:srgbClr val="FFFFFF"/>
          </a:solidFill>
          <a:ln w="9525">
            <a:solidFill>
              <a:srgbClr val="CAD8C7"/>
            </a:solidFill>
            <a:prstDash val="solid"/>
          </a:ln>
        </p:spPr>
      </p:sp>
      <p:pic>
        <p:nvPicPr>
          <p:cNvPr id="19" name="Graphic 1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9963150" y="3581400"/>
            <a:ext cx="323850" cy="32385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886E89EA-2932-418F-9F8E-DC8E51E505AF}"/>
              </a:ext>
            </a:extLst>
          </p:cNvPr>
          <p:cNvSpPr>
            <a:spLocks noGrp="1"/>
          </p:cNvSpPr>
          <p:nvPr/>
        </p:nvSpPr>
        <p:spPr>
          <a:xfrm>
            <a:off x="9963150" y="4000500"/>
            <a:ext cx="1352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24322D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24322D"/>
                </a:solidFill>
                <a:latin typeface="Aptos Display"/>
                <a:ea typeface="Aptos Display"/>
                <a:cs typeface="Aptos Display"/>
              </a:rPr>
              <a:t>Parents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BB3088A-2429-4B99-8E01-54A230D85290}"/>
              </a:ext>
            </a:extLst>
          </p:cNvPr>
          <p:cNvSpPr>
            <a:spLocks noGrp="1"/>
          </p:cNvSpPr>
          <p:nvPr/>
        </p:nvSpPr>
        <p:spPr>
          <a:xfrm>
            <a:off x="9963150" y="4305300"/>
            <a:ext cx="13716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2635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35A"/>
                </a:solidFill>
                <a:latin typeface="Aptos"/>
                <a:ea typeface="Aptos"/>
                <a:cs typeface="Aptos"/>
              </a:rPr>
              <a:t>D2C feedback</a:t>
            </a:r>
          </a:p>
          <a:p>
            <a:pPr algn="l">
              <a:defRPr sz="975" b="0">
                <a:solidFill>
                  <a:srgbClr val="52635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35A"/>
                </a:solidFill>
                <a:latin typeface="Aptos"/>
                <a:ea typeface="Aptos"/>
                <a:cs typeface="Aptos"/>
              </a:rPr>
              <a:t>Subscriptions</a:t>
            </a:r>
          </a:p>
          <a:p>
            <a:pPr algn="l">
              <a:defRPr sz="975" b="0">
                <a:solidFill>
                  <a:srgbClr val="52635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35A"/>
                </a:solidFill>
                <a:latin typeface="Aptos"/>
                <a:ea typeface="Aptos"/>
                <a:cs typeface="Aptos"/>
              </a:rPr>
              <a:t>Community proof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FBC7686-64F6-4486-A6D2-0453CFF3ECB8}"/>
              </a:ext>
            </a:extLst>
          </p:cNvPr>
          <p:cNvSpPr>
            <a:spLocks noGrp="1"/>
          </p:cNvSpPr>
          <p:nvPr/>
        </p:nvSpPr>
        <p:spPr>
          <a:xfrm>
            <a:off x="11239500" y="6419850"/>
            <a:ext cx="304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60786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07862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681BD39-05E0-050A-29BD-9594FE8C336B}"/>
              </a:ext>
            </a:extLst>
          </p:cNvPr>
          <p:cNvCxnSpPr/>
          <p:nvPr/>
        </p:nvCxnSpPr>
        <p:spPr>
          <a:xfrm>
            <a:off x="2675824" y="4124030"/>
            <a:ext cx="1189255" cy="90373"/>
          </a:xfrm>
          <a:prstGeom prst="straightConnector1">
            <a:avLst/>
          </a:prstGeom>
          <a:ln>
            <a:solidFill>
              <a:srgbClr val="60786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7A49AE5D-AD21-1680-9574-25022ABF1C83}"/>
              </a:ext>
            </a:extLst>
          </p:cNvPr>
          <p:cNvCxnSpPr>
            <a:cxnSpLocks/>
          </p:cNvCxnSpPr>
          <p:nvPr/>
        </p:nvCxnSpPr>
        <p:spPr>
          <a:xfrm>
            <a:off x="5590607" y="4156002"/>
            <a:ext cx="1189255" cy="90373"/>
          </a:xfrm>
          <a:prstGeom prst="straightConnector1">
            <a:avLst/>
          </a:prstGeom>
          <a:ln>
            <a:solidFill>
              <a:srgbClr val="60786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FB283370-43CF-0C3C-BEAB-04B4669AF746}"/>
              </a:ext>
            </a:extLst>
          </p:cNvPr>
          <p:cNvCxnSpPr>
            <a:cxnSpLocks/>
          </p:cNvCxnSpPr>
          <p:nvPr/>
        </p:nvCxnSpPr>
        <p:spPr>
          <a:xfrm>
            <a:off x="8590649" y="4219946"/>
            <a:ext cx="1189255" cy="90373"/>
          </a:xfrm>
          <a:prstGeom prst="straightConnector1">
            <a:avLst/>
          </a:prstGeom>
          <a:ln>
            <a:solidFill>
              <a:srgbClr val="60786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55383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40FA2C1E-C1B5-ED8B-3901-B3F034393F1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9-marker">
            <a:extLst>
              <a:ext uri="{FF2B5EF4-FFF2-40B4-BE49-F238E27FC236}">
                <a16:creationId xmlns:a16="http://schemas.microsoft.com/office/drawing/2014/main" id="{F53159FF-985D-4A96-9189-D7A98CD493AA}"/>
              </a:ext>
            </a:extLst>
          </p:cNvPr>
          <p:cNvSpPr>
            <a:spLocks noGrp="1"/>
          </p:cNvSpPr>
          <p:nvPr/>
        </p:nvSpPr>
        <p:spPr>
          <a:xfrm>
            <a:off x="666750" y="533400"/>
            <a:ext cx="209550" cy="19050"/>
          </a:xfrm>
          <a:prstGeom prst="rect">
            <a:avLst/>
          </a:prstGeom>
          <a:solidFill>
            <a:srgbClr val="60786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9-label">
            <a:extLst>
              <a:ext uri="{FF2B5EF4-FFF2-40B4-BE49-F238E27FC236}">
                <a16:creationId xmlns:a16="http://schemas.microsoft.com/office/drawing/2014/main" id="{E3880DF0-3299-4F53-AB63-D0B15FA08212}"/>
              </a:ext>
            </a:extLst>
          </p:cNvPr>
          <p:cNvSpPr>
            <a:spLocks noGrp="1"/>
          </p:cNvSpPr>
          <p:nvPr/>
        </p:nvSpPr>
        <p:spPr>
          <a:xfrm>
            <a:off x="1023164" y="502789"/>
            <a:ext cx="3993987" cy="15793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>
              <a:defRPr sz="750" b="1">
                <a:solidFill>
                  <a:srgbClr val="60786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07862"/>
                </a:solidFill>
                <a:latin typeface="Aptos"/>
                <a:ea typeface="Aptos"/>
                <a:cs typeface="Aptos"/>
              </a:rPr>
              <a:t>ROADMAP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C71F366-30DD-4D9E-9261-35BE5B680803}"/>
              </a:ext>
            </a:extLst>
          </p:cNvPr>
          <p:cNvSpPr>
            <a:spLocks noGrp="1"/>
          </p:cNvSpPr>
          <p:nvPr/>
        </p:nvSpPr>
        <p:spPr>
          <a:xfrm>
            <a:off x="666750" y="876300"/>
            <a:ext cx="847725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3150" b="1">
                <a:solidFill>
                  <a:srgbClr val="24322D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US" sz="3150" b="1">
                <a:solidFill>
                  <a:srgbClr val="24322D"/>
                </a:solidFill>
                <a:latin typeface="Aptos Display"/>
              </a:rPr>
              <a:t>EXECUTION PLAN</a:t>
            </a: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81BDCCC-1F8E-4D13-9510-FC39B98D0840}"/>
              </a:ext>
            </a:extLst>
          </p:cNvPr>
          <p:cNvSpPr>
            <a:spLocks noGrp="1"/>
          </p:cNvSpPr>
          <p:nvPr/>
        </p:nvSpPr>
        <p:spPr>
          <a:xfrm>
            <a:off x="1047750" y="3714750"/>
            <a:ext cx="9525000" cy="19050"/>
          </a:xfrm>
          <a:prstGeom prst="rect">
            <a:avLst/>
          </a:prstGeom>
          <a:solidFill>
            <a:srgbClr val="CAD8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5D1F700-AA0F-4E58-A38C-EAA3767779C5}"/>
              </a:ext>
            </a:extLst>
          </p:cNvPr>
          <p:cNvSpPr>
            <a:spLocks noGrp="1"/>
          </p:cNvSpPr>
          <p:nvPr/>
        </p:nvSpPr>
        <p:spPr>
          <a:xfrm>
            <a:off x="933450" y="3600450"/>
            <a:ext cx="247650" cy="247650"/>
          </a:xfrm>
          <a:prstGeom prst="ellipse">
            <a:avLst/>
          </a:prstGeom>
          <a:solidFill>
            <a:srgbClr val="60786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8" name="Graphic 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838200" y="2838450"/>
            <a:ext cx="419100" cy="4191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A454189-F290-48A8-821D-CAF60A133F74}"/>
              </a:ext>
            </a:extLst>
          </p:cNvPr>
          <p:cNvSpPr>
            <a:spLocks noGrp="1"/>
          </p:cNvSpPr>
          <p:nvPr/>
        </p:nvSpPr>
        <p:spPr>
          <a:xfrm>
            <a:off x="571500" y="4019550"/>
            <a:ext cx="952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607862"/>
                </a:solidFill>
                <a:latin typeface="Aptos"/>
                <a:ea typeface="Aptos"/>
                <a:cs typeface="Aptos"/>
              </a:defRPr>
            </a:pPr>
            <a:r>
              <a:rPr lang="en-US" sz="900" b="1" dirty="0">
                <a:solidFill>
                  <a:srgbClr val="607862"/>
                </a:solidFill>
                <a:latin typeface="Aptos"/>
                <a:ea typeface="Aptos"/>
                <a:cs typeface="Aptos"/>
              </a:rPr>
              <a:t>0-6 </a:t>
            </a:r>
            <a:r>
              <a:rPr lang="en-US" sz="900" b="1">
                <a:solidFill>
                  <a:srgbClr val="607862"/>
                </a:solidFill>
                <a:latin typeface="Aptos"/>
                <a:ea typeface="Aptos"/>
                <a:cs typeface="Aptos"/>
              </a:rPr>
              <a:t>months</a:t>
            </a:r>
            <a:endParaRPr lang="en-US" sz="900" b="1" dirty="0">
              <a:solidFill>
                <a:srgbClr val="60786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5B27383-3EC9-4EF7-A7A8-69F729065CED}"/>
              </a:ext>
            </a:extLst>
          </p:cNvPr>
          <p:cNvSpPr>
            <a:spLocks noGrp="1"/>
          </p:cNvSpPr>
          <p:nvPr/>
        </p:nvSpPr>
        <p:spPr>
          <a:xfrm>
            <a:off x="266700" y="4267200"/>
            <a:ext cx="15621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52635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2635A"/>
                </a:solidFill>
                <a:latin typeface="Aptos"/>
                <a:ea typeface="Aptos"/>
                <a:cs typeface="Aptos"/>
              </a:rPr>
              <a:t>Prototype + supplier lock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C3812E8-6501-41C9-9A57-1388A81371AB}"/>
              </a:ext>
            </a:extLst>
          </p:cNvPr>
          <p:cNvSpPr>
            <a:spLocks noGrp="1"/>
          </p:cNvSpPr>
          <p:nvPr/>
        </p:nvSpPr>
        <p:spPr>
          <a:xfrm>
            <a:off x="3314700" y="3600450"/>
            <a:ext cx="247650" cy="247650"/>
          </a:xfrm>
          <a:prstGeom prst="ellipse">
            <a:avLst/>
          </a:prstGeom>
          <a:solidFill>
            <a:srgbClr val="60786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C1A9E20-8884-49C0-9D40-A322377D558C}"/>
              </a:ext>
            </a:extLst>
          </p:cNvPr>
          <p:cNvSpPr>
            <a:spLocks noGrp="1"/>
          </p:cNvSpPr>
          <p:nvPr/>
        </p:nvSpPr>
        <p:spPr>
          <a:xfrm>
            <a:off x="2952750" y="4019550"/>
            <a:ext cx="952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607862"/>
                </a:solidFill>
                <a:latin typeface="Aptos"/>
                <a:ea typeface="Aptos"/>
                <a:cs typeface="Aptos"/>
              </a:defRPr>
            </a:pPr>
            <a:r>
              <a:rPr lang="en-US" sz="900" b="1" dirty="0">
                <a:solidFill>
                  <a:srgbClr val="607862"/>
                </a:solidFill>
                <a:latin typeface="Aptos"/>
                <a:ea typeface="Aptos"/>
                <a:cs typeface="Aptos"/>
              </a:rPr>
              <a:t>6 – 12 </a:t>
            </a:r>
            <a:r>
              <a:rPr lang="en-US" sz="900" b="1">
                <a:solidFill>
                  <a:srgbClr val="607862"/>
                </a:solidFill>
                <a:latin typeface="Aptos"/>
                <a:ea typeface="Aptos"/>
                <a:cs typeface="Aptos"/>
              </a:rPr>
              <a:t>months</a:t>
            </a:r>
            <a:endParaRPr lang="en-US" sz="900" b="1" dirty="0">
              <a:solidFill>
                <a:srgbClr val="60786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B8EDBA8-5BF4-45C9-898D-ECF4BDD892D6}"/>
              </a:ext>
            </a:extLst>
          </p:cNvPr>
          <p:cNvSpPr>
            <a:spLocks noGrp="1"/>
          </p:cNvSpPr>
          <p:nvPr/>
        </p:nvSpPr>
        <p:spPr>
          <a:xfrm>
            <a:off x="2647950" y="4267200"/>
            <a:ext cx="15621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52635A"/>
                </a:solidFill>
                <a:latin typeface="Aptos"/>
                <a:ea typeface="Aptos"/>
                <a:cs typeface="Aptos"/>
              </a:defRPr>
            </a:pPr>
            <a:r>
              <a:rPr lang="en-US" sz="1100" dirty="0">
                <a:solidFill>
                  <a:srgbClr val="52635A"/>
                </a:solidFill>
                <a:latin typeface="Aptos"/>
                <a:ea typeface="Aptos"/>
                <a:cs typeface="Aptos"/>
              </a:rPr>
              <a:t>D2C pilot and </a:t>
            </a:r>
            <a:r>
              <a:rPr lang="en-US" sz="1100">
                <a:solidFill>
                  <a:srgbClr val="52635A"/>
                </a:solidFill>
                <a:latin typeface="Aptos"/>
                <a:ea typeface="Aptos"/>
                <a:cs typeface="Aptos"/>
              </a:rPr>
              <a:t>first subscriptions</a:t>
            </a:r>
            <a:endParaRPr lang="en-US" sz="1100" dirty="0" err="1">
              <a:solidFill>
                <a:srgbClr val="000000"/>
              </a:solidFill>
              <a:latin typeface="Aptos"/>
              <a:ea typeface="Aptos"/>
              <a:cs typeface="Aptos"/>
            </a:endParaRPr>
          </a:p>
          <a:p>
            <a:pPr algn="ctr">
              <a:defRPr sz="1050" b="0">
                <a:solidFill>
                  <a:srgbClr val="52635A"/>
                </a:solidFill>
                <a:latin typeface="Aptos"/>
                <a:ea typeface="Aptos"/>
                <a:cs typeface="Aptos"/>
              </a:defRPr>
            </a:pPr>
            <a:endParaRPr sz="1050" b="0" dirty="0">
              <a:solidFill>
                <a:srgbClr val="52635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0E2C131C-29D2-421D-9797-AFEDA972C61A}"/>
              </a:ext>
            </a:extLst>
          </p:cNvPr>
          <p:cNvSpPr>
            <a:spLocks noGrp="1"/>
          </p:cNvSpPr>
          <p:nvPr/>
        </p:nvSpPr>
        <p:spPr>
          <a:xfrm>
            <a:off x="5695950" y="3600450"/>
            <a:ext cx="247650" cy="247650"/>
          </a:xfrm>
          <a:prstGeom prst="ellipse">
            <a:avLst/>
          </a:prstGeom>
          <a:solidFill>
            <a:srgbClr val="60786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6" name="Graphic 1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3218784" y="2838450"/>
            <a:ext cx="419100" cy="41910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CB7AE036-9C83-4AC8-8402-5B3AF14013B6}"/>
              </a:ext>
            </a:extLst>
          </p:cNvPr>
          <p:cNvSpPr>
            <a:spLocks noGrp="1"/>
          </p:cNvSpPr>
          <p:nvPr/>
        </p:nvSpPr>
        <p:spPr>
          <a:xfrm>
            <a:off x="5334000" y="4019550"/>
            <a:ext cx="952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607862"/>
                </a:solidFill>
                <a:latin typeface="Aptos"/>
                <a:ea typeface="Aptos"/>
                <a:cs typeface="Aptos"/>
              </a:defRPr>
            </a:pPr>
            <a:r>
              <a:rPr lang="en-US" sz="900" b="1">
                <a:solidFill>
                  <a:srgbClr val="607862"/>
                </a:solidFill>
                <a:latin typeface="Aptos"/>
                <a:ea typeface="Aptos"/>
                <a:cs typeface="Aptos"/>
              </a:rPr>
              <a:t>12 – 18 </a:t>
            </a:r>
            <a:r>
              <a:rPr lang="en-US" sz="900" b="1" dirty="0">
                <a:solidFill>
                  <a:srgbClr val="607862"/>
                </a:solidFill>
                <a:latin typeface="Aptos"/>
                <a:ea typeface="Aptos"/>
                <a:cs typeface="Aptos"/>
              </a:rPr>
              <a:t>months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D60ACE6-EA0E-479F-9333-A0319B5DB8DA}"/>
              </a:ext>
            </a:extLst>
          </p:cNvPr>
          <p:cNvSpPr>
            <a:spLocks noGrp="1"/>
          </p:cNvSpPr>
          <p:nvPr/>
        </p:nvSpPr>
        <p:spPr>
          <a:xfrm>
            <a:off x="5029200" y="4267200"/>
            <a:ext cx="15621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52635A"/>
                </a:solidFill>
                <a:latin typeface="Aptos"/>
                <a:ea typeface="Aptos"/>
                <a:cs typeface="Aptos"/>
              </a:defRPr>
            </a:pPr>
            <a:r>
              <a:rPr lang="en-US" sz="1100" dirty="0">
                <a:solidFill>
                  <a:srgbClr val="52635A"/>
                </a:solidFill>
                <a:latin typeface="Aptos"/>
                <a:ea typeface="Aptos"/>
                <a:cs typeface="Aptos"/>
              </a:rPr>
              <a:t>Clinics, retail </a:t>
            </a:r>
            <a:r>
              <a:rPr lang="en-US" sz="1100" b="0" dirty="0">
                <a:solidFill>
                  <a:srgbClr val="52635A"/>
                </a:solidFill>
                <a:latin typeface="Aptos"/>
                <a:ea typeface="Aptos"/>
                <a:cs typeface="Aptos"/>
              </a:rPr>
              <a:t>and </a:t>
            </a:r>
            <a:r>
              <a:rPr lang="en-US" sz="1100">
                <a:solidFill>
                  <a:srgbClr val="52635A"/>
                </a:solidFill>
                <a:latin typeface="Aptos"/>
                <a:ea typeface="Aptos"/>
                <a:cs typeface="Aptos"/>
              </a:rPr>
              <a:t>adjacent care</a:t>
            </a:r>
            <a:endParaRPr lang="en-US" sz="1100" dirty="0" err="1">
              <a:solidFill>
                <a:srgbClr val="000000"/>
              </a:solidFill>
              <a:latin typeface="Aptos"/>
              <a:ea typeface="Aptos"/>
              <a:cs typeface="Aptos"/>
            </a:endParaRPr>
          </a:p>
          <a:p>
            <a:pPr algn="ctr">
              <a:defRPr sz="1050" b="0">
                <a:solidFill>
                  <a:srgbClr val="52635A"/>
                </a:solidFill>
                <a:latin typeface="Aptos"/>
                <a:ea typeface="Aptos"/>
                <a:cs typeface="Aptos"/>
              </a:defRPr>
            </a:pPr>
            <a:endParaRPr sz="1050" b="0" dirty="0">
              <a:solidFill>
                <a:srgbClr val="52635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AAFD704-DA75-435A-B100-0AC011021909}"/>
              </a:ext>
            </a:extLst>
          </p:cNvPr>
          <p:cNvSpPr>
            <a:spLocks noGrp="1"/>
          </p:cNvSpPr>
          <p:nvPr/>
        </p:nvSpPr>
        <p:spPr>
          <a:xfrm>
            <a:off x="8077200" y="3600450"/>
            <a:ext cx="247650" cy="247650"/>
          </a:xfrm>
          <a:prstGeom prst="ellipse">
            <a:avLst/>
          </a:prstGeom>
          <a:solidFill>
            <a:srgbClr val="60786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0" name="Graphic 1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7981950" y="2838450"/>
            <a:ext cx="419100" cy="41910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34229B46-BA7E-40C7-8E72-4857E7AF65A0}"/>
              </a:ext>
            </a:extLst>
          </p:cNvPr>
          <p:cNvSpPr>
            <a:spLocks noGrp="1"/>
          </p:cNvSpPr>
          <p:nvPr/>
        </p:nvSpPr>
        <p:spPr>
          <a:xfrm>
            <a:off x="7715250" y="4019550"/>
            <a:ext cx="952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607862"/>
                </a:solidFill>
                <a:latin typeface="Aptos"/>
                <a:ea typeface="Aptos"/>
                <a:cs typeface="Aptos"/>
              </a:defRPr>
            </a:pPr>
            <a:r>
              <a:rPr lang="en-US" sz="900" b="1">
                <a:solidFill>
                  <a:srgbClr val="607862"/>
                </a:solidFill>
                <a:latin typeface="Aptos"/>
              </a:rPr>
              <a:t>18 – 24 months</a:t>
            </a:r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79EB30B-FE5E-4A64-92B5-1AECC6D100C0}"/>
              </a:ext>
            </a:extLst>
          </p:cNvPr>
          <p:cNvSpPr>
            <a:spLocks noGrp="1"/>
          </p:cNvSpPr>
          <p:nvPr/>
        </p:nvSpPr>
        <p:spPr>
          <a:xfrm>
            <a:off x="7410450" y="4267200"/>
            <a:ext cx="15621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52635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2635A"/>
                </a:solidFill>
                <a:latin typeface="Aptos"/>
                <a:ea typeface="Aptos"/>
                <a:cs typeface="Aptos"/>
              </a:rPr>
              <a:t>Product family expansion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085A29F1-8A74-44B9-B1AA-DD2C7703D2DC}"/>
              </a:ext>
            </a:extLst>
          </p:cNvPr>
          <p:cNvSpPr>
            <a:spLocks noGrp="1"/>
          </p:cNvSpPr>
          <p:nvPr/>
        </p:nvSpPr>
        <p:spPr>
          <a:xfrm>
            <a:off x="10458450" y="3600450"/>
            <a:ext cx="247650" cy="247650"/>
          </a:xfrm>
          <a:prstGeom prst="ellipse">
            <a:avLst/>
          </a:prstGeom>
          <a:solidFill>
            <a:srgbClr val="60786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4" name="Graphic 2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10363200" y="2838450"/>
            <a:ext cx="419100" cy="419100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63B4196A-5036-46B2-9CA7-42A41598EFE1}"/>
              </a:ext>
            </a:extLst>
          </p:cNvPr>
          <p:cNvSpPr>
            <a:spLocks noGrp="1"/>
          </p:cNvSpPr>
          <p:nvPr/>
        </p:nvSpPr>
        <p:spPr>
          <a:xfrm>
            <a:off x="10096500" y="4019550"/>
            <a:ext cx="952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607862"/>
                </a:solidFill>
                <a:latin typeface="Aptos"/>
                <a:ea typeface="Aptos"/>
                <a:cs typeface="Aptos"/>
              </a:defRPr>
            </a:pPr>
            <a:r>
              <a:rPr lang="en-US" sz="900" b="1">
                <a:solidFill>
                  <a:srgbClr val="607862"/>
                </a:solidFill>
                <a:latin typeface="Aptos"/>
              </a:rPr>
              <a:t>Long - term</a:t>
            </a:r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744FB4E-AF07-4AEF-9B32-C2D93BED40C9}"/>
              </a:ext>
            </a:extLst>
          </p:cNvPr>
          <p:cNvSpPr>
            <a:spLocks noGrp="1"/>
          </p:cNvSpPr>
          <p:nvPr/>
        </p:nvSpPr>
        <p:spPr>
          <a:xfrm>
            <a:off x="9791700" y="4267200"/>
            <a:ext cx="15621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52635A"/>
                </a:solidFill>
                <a:latin typeface="Aptos"/>
                <a:ea typeface="Aptos"/>
                <a:cs typeface="Aptos"/>
              </a:defRPr>
            </a:pPr>
            <a:r>
              <a:rPr lang="en-US" sz="1050">
                <a:solidFill>
                  <a:srgbClr val="52635A"/>
                </a:solidFill>
                <a:ea typeface="+mn-lt"/>
                <a:cs typeface="+mn-lt"/>
              </a:rPr>
              <a:t>Build a trusted baby-care ecosystem.</a:t>
            </a:r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0D1263D-3B65-4E97-B639-0FA87A293986}"/>
              </a:ext>
            </a:extLst>
          </p:cNvPr>
          <p:cNvSpPr>
            <a:spLocks noGrp="1"/>
          </p:cNvSpPr>
          <p:nvPr/>
        </p:nvSpPr>
        <p:spPr>
          <a:xfrm>
            <a:off x="11239500" y="6419850"/>
            <a:ext cx="304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60786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07862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pic>
        <p:nvPicPr>
          <p:cNvPr id="31" name="Graphic 30" descr="Store with solid fill">
            <a:extLst>
              <a:ext uri="{FF2B5EF4-FFF2-40B4-BE49-F238E27FC236}">
                <a16:creationId xmlns:a16="http://schemas.microsoft.com/office/drawing/2014/main" id="{DBAAC575-0525-2394-3D23-609FB82ECB2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553542" y="2838584"/>
            <a:ext cx="504092" cy="530735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AC72886F-D3EC-2C91-39E9-0E6FDD374501}"/>
              </a:ext>
            </a:extLst>
          </p:cNvPr>
          <p:cNvSpPr txBox="1"/>
          <p:nvPr/>
        </p:nvSpPr>
        <p:spPr>
          <a:xfrm>
            <a:off x="665136" y="1717729"/>
            <a:ext cx="6096000" cy="369332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607962"/>
                </a:solidFill>
                <a:ea typeface="+mn-lt"/>
                <a:cs typeface="+mn-lt"/>
              </a:rPr>
              <a:t>Every stage earns the right to the next.</a:t>
            </a:r>
            <a:endParaRPr lang="en-US">
              <a:solidFill>
                <a:srgbClr val="60796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40588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CC5AC042-C52A-6A3C-2122-E8C1484F255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20-marker">
            <a:extLst>
              <a:ext uri="{FF2B5EF4-FFF2-40B4-BE49-F238E27FC236}">
                <a16:creationId xmlns:a16="http://schemas.microsoft.com/office/drawing/2014/main" id="{73EC0CC9-DA7C-46EB-97D0-50BBF1900BEE}"/>
              </a:ext>
            </a:extLst>
          </p:cNvPr>
          <p:cNvSpPr>
            <a:spLocks noGrp="1"/>
          </p:cNvSpPr>
          <p:nvPr/>
        </p:nvSpPr>
        <p:spPr>
          <a:xfrm>
            <a:off x="666750" y="533400"/>
            <a:ext cx="209550" cy="19050"/>
          </a:xfrm>
          <a:prstGeom prst="rect">
            <a:avLst/>
          </a:prstGeom>
          <a:solidFill>
            <a:srgbClr val="60786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20-label">
            <a:extLst>
              <a:ext uri="{FF2B5EF4-FFF2-40B4-BE49-F238E27FC236}">
                <a16:creationId xmlns:a16="http://schemas.microsoft.com/office/drawing/2014/main" id="{C8A76CC6-392B-4FB1-AE84-E067597FDEB4}"/>
              </a:ext>
            </a:extLst>
          </p:cNvPr>
          <p:cNvSpPr>
            <a:spLocks noGrp="1"/>
          </p:cNvSpPr>
          <p:nvPr/>
        </p:nvSpPr>
        <p:spPr>
          <a:xfrm>
            <a:off x="990600" y="457200"/>
            <a:ext cx="2476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750" b="1">
                <a:solidFill>
                  <a:srgbClr val="60786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07862"/>
                </a:solidFill>
                <a:latin typeface="Aptos"/>
                <a:ea typeface="Aptos"/>
                <a:cs typeface="Aptos"/>
              </a:rPr>
              <a:t>BEYOND DIAPERS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E1A8D1F-7F3C-4534-AF77-3F9380FAB29F}"/>
              </a:ext>
            </a:extLst>
          </p:cNvPr>
          <p:cNvSpPr>
            <a:spLocks noGrp="1"/>
          </p:cNvSpPr>
          <p:nvPr/>
        </p:nvSpPr>
        <p:spPr>
          <a:xfrm>
            <a:off x="666750" y="876300"/>
            <a:ext cx="752475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24322D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4322D"/>
                </a:solidFill>
                <a:latin typeface="Aptos Display"/>
                <a:ea typeface="Aptos Display"/>
                <a:cs typeface="Aptos Display"/>
              </a:rPr>
              <a:t>Diapers are the entry point into trusted baby care.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95A3FFA-991B-4709-8354-9F53E1C816D1}"/>
              </a:ext>
            </a:extLst>
          </p:cNvPr>
          <p:cNvSpPr>
            <a:spLocks noGrp="1"/>
          </p:cNvSpPr>
          <p:nvPr/>
        </p:nvSpPr>
        <p:spPr>
          <a:xfrm>
            <a:off x="672432" y="1943100"/>
            <a:ext cx="6530473" cy="412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52635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2635A"/>
                </a:solidFill>
                <a:latin typeface="Aptos"/>
                <a:ea typeface="Aptos"/>
                <a:cs typeface="Aptos"/>
              </a:rPr>
              <a:t>Luvia can become the calm shelf parents reach for during the first years.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438A3DE-D7AA-444B-9EBE-9A110DDA5263}"/>
              </a:ext>
            </a:extLst>
          </p:cNvPr>
          <p:cNvSpPr>
            <a:spLocks noGrp="1"/>
          </p:cNvSpPr>
          <p:nvPr/>
        </p:nvSpPr>
        <p:spPr>
          <a:xfrm>
            <a:off x="1066800" y="5257800"/>
            <a:ext cx="10001250" cy="152400"/>
          </a:xfrm>
          <a:prstGeom prst="rect">
            <a:avLst/>
          </a:prstGeom>
          <a:solidFill>
            <a:srgbClr val="E9DDC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9ABDB3B-A941-4635-B370-42A96CD36077}"/>
              </a:ext>
            </a:extLst>
          </p:cNvPr>
          <p:cNvSpPr>
            <a:spLocks noGrp="1"/>
          </p:cNvSpPr>
          <p:nvPr/>
        </p:nvSpPr>
        <p:spPr>
          <a:xfrm>
            <a:off x="1123950" y="3695700"/>
            <a:ext cx="990600" cy="1390650"/>
          </a:xfrm>
          <a:prstGeom prst="rect">
            <a:avLst/>
          </a:prstGeom>
          <a:solidFill>
            <a:srgbClr val="FFFFFF"/>
          </a:solidFill>
          <a:ln w="9525">
            <a:solidFill>
              <a:srgbClr val="CAD8C7"/>
            </a:solidFill>
            <a:prstDash val="solid"/>
          </a:ln>
        </p:spPr>
      </p:sp>
      <p:pic>
        <p:nvPicPr>
          <p:cNvPr id="8" name="Graphic 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428750" y="3924300"/>
            <a:ext cx="381000" cy="381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962D5BDE-1B4E-47E0-9F0A-AB69013B6535}"/>
              </a:ext>
            </a:extLst>
          </p:cNvPr>
          <p:cNvSpPr>
            <a:spLocks noGrp="1"/>
          </p:cNvSpPr>
          <p:nvPr/>
        </p:nvSpPr>
        <p:spPr>
          <a:xfrm>
            <a:off x="1219200" y="4495800"/>
            <a:ext cx="8001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0">
                <a:solidFill>
                  <a:srgbClr val="24322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4322D"/>
                </a:solidFill>
                <a:latin typeface="Aptos"/>
                <a:ea typeface="Aptos"/>
                <a:cs typeface="Aptos"/>
              </a:rPr>
              <a:t>Diapers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B675A0F-02F1-4495-B775-A574433FFB5A}"/>
              </a:ext>
            </a:extLst>
          </p:cNvPr>
          <p:cNvSpPr>
            <a:spLocks noGrp="1"/>
          </p:cNvSpPr>
          <p:nvPr/>
        </p:nvSpPr>
        <p:spPr>
          <a:xfrm>
            <a:off x="3344008" y="4027943"/>
            <a:ext cx="990600" cy="1390650"/>
          </a:xfrm>
          <a:prstGeom prst="rect">
            <a:avLst/>
          </a:prstGeom>
          <a:solidFill>
            <a:srgbClr val="FFFFFF"/>
          </a:solidFill>
          <a:ln w="9525">
            <a:solidFill>
              <a:srgbClr val="CAD8C7"/>
            </a:solidFill>
            <a:prstDash val="solid"/>
          </a:ln>
        </p:spPr>
      </p:sp>
      <p:pic>
        <p:nvPicPr>
          <p:cNvPr id="11" name="Graphic 1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3648808" y="4256543"/>
            <a:ext cx="381000" cy="3810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33A2E249-F4D5-48B6-BB55-B8778D4B5F2A}"/>
              </a:ext>
            </a:extLst>
          </p:cNvPr>
          <p:cNvSpPr>
            <a:spLocks noGrp="1"/>
          </p:cNvSpPr>
          <p:nvPr/>
        </p:nvSpPr>
        <p:spPr>
          <a:xfrm>
            <a:off x="3439258" y="4828043"/>
            <a:ext cx="8001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0">
                <a:solidFill>
                  <a:srgbClr val="24322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4322D"/>
                </a:solidFill>
                <a:latin typeface="Aptos"/>
                <a:ea typeface="Aptos"/>
                <a:cs typeface="Aptos"/>
              </a:rPr>
              <a:t>Wipes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C9D6F92-2C92-4BA8-8B8E-155292395018}"/>
              </a:ext>
            </a:extLst>
          </p:cNvPr>
          <p:cNvSpPr>
            <a:spLocks noGrp="1"/>
          </p:cNvSpPr>
          <p:nvPr/>
        </p:nvSpPr>
        <p:spPr>
          <a:xfrm>
            <a:off x="5441506" y="3678781"/>
            <a:ext cx="990600" cy="1390650"/>
          </a:xfrm>
          <a:prstGeom prst="rect">
            <a:avLst/>
          </a:prstGeom>
          <a:solidFill>
            <a:srgbClr val="FFFFFF"/>
          </a:solidFill>
          <a:ln w="9525">
            <a:solidFill>
              <a:srgbClr val="CAD8C7"/>
            </a:solidFill>
            <a:prstDash val="solid"/>
          </a:ln>
        </p:spPr>
      </p:sp>
      <p:pic>
        <p:nvPicPr>
          <p:cNvPr id="14" name="Graphic 1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5746306" y="3907381"/>
            <a:ext cx="381000" cy="38100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C0F767E2-138D-49AA-A003-D2992F46E22B}"/>
              </a:ext>
            </a:extLst>
          </p:cNvPr>
          <p:cNvSpPr>
            <a:spLocks noGrp="1"/>
          </p:cNvSpPr>
          <p:nvPr/>
        </p:nvSpPr>
        <p:spPr>
          <a:xfrm>
            <a:off x="5536756" y="4478881"/>
            <a:ext cx="8001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0">
                <a:solidFill>
                  <a:srgbClr val="24322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4322D"/>
                </a:solidFill>
                <a:latin typeface="Aptos"/>
                <a:ea typeface="Aptos"/>
                <a:cs typeface="Aptos"/>
              </a:rPr>
              <a:t>Rash creams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D6DC7FB-B59B-4B0F-88D6-D083A89585C3}"/>
              </a:ext>
            </a:extLst>
          </p:cNvPr>
          <p:cNvSpPr>
            <a:spLocks noGrp="1"/>
          </p:cNvSpPr>
          <p:nvPr/>
        </p:nvSpPr>
        <p:spPr>
          <a:xfrm>
            <a:off x="7643579" y="4004763"/>
            <a:ext cx="990600" cy="1390650"/>
          </a:xfrm>
          <a:prstGeom prst="rect">
            <a:avLst/>
          </a:prstGeom>
          <a:solidFill>
            <a:srgbClr val="FFFFFF"/>
          </a:solidFill>
          <a:ln w="9525">
            <a:solidFill>
              <a:srgbClr val="CAD8C7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FBFC14E-2FFF-4E5C-8270-8E76FB02A0E9}"/>
              </a:ext>
            </a:extLst>
          </p:cNvPr>
          <p:cNvSpPr>
            <a:spLocks noGrp="1"/>
          </p:cNvSpPr>
          <p:nvPr/>
        </p:nvSpPr>
        <p:spPr>
          <a:xfrm>
            <a:off x="7738829" y="4804863"/>
            <a:ext cx="8001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0">
                <a:solidFill>
                  <a:srgbClr val="24322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4322D"/>
                </a:solidFill>
                <a:latin typeface="Aptos"/>
                <a:ea typeface="Aptos"/>
                <a:cs typeface="Aptos"/>
              </a:rPr>
              <a:t>Baby skincare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79FB821-B0BB-4C7E-9859-08065DA969BE}"/>
              </a:ext>
            </a:extLst>
          </p:cNvPr>
          <p:cNvSpPr>
            <a:spLocks noGrp="1"/>
          </p:cNvSpPr>
          <p:nvPr/>
        </p:nvSpPr>
        <p:spPr>
          <a:xfrm>
            <a:off x="10021899" y="3709154"/>
            <a:ext cx="990600" cy="1390650"/>
          </a:xfrm>
          <a:prstGeom prst="rect">
            <a:avLst/>
          </a:prstGeom>
          <a:solidFill>
            <a:srgbClr val="FFFFFF"/>
          </a:solidFill>
          <a:ln w="9525">
            <a:solidFill>
              <a:srgbClr val="CAD8C7"/>
            </a:solidFill>
            <a:prstDash val="solid"/>
          </a:ln>
        </p:spPr>
      </p:sp>
      <p:pic>
        <p:nvPicPr>
          <p:cNvPr id="23" name="Graphic 2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10326699" y="3937754"/>
            <a:ext cx="381000" cy="38100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8413A445-C13F-49A3-B75F-DF7D58FE9F7B}"/>
              </a:ext>
            </a:extLst>
          </p:cNvPr>
          <p:cNvSpPr>
            <a:spLocks noGrp="1"/>
          </p:cNvSpPr>
          <p:nvPr/>
        </p:nvSpPr>
        <p:spPr>
          <a:xfrm>
            <a:off x="10117149" y="4509254"/>
            <a:ext cx="8001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0">
                <a:solidFill>
                  <a:srgbClr val="24322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4322D"/>
                </a:solidFill>
                <a:latin typeface="Aptos"/>
                <a:ea typeface="Aptos"/>
                <a:cs typeface="Aptos"/>
              </a:rPr>
              <a:t>Feeding accessories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523B5EF-4DC6-44E2-9D0C-9038D3C7ED7E}"/>
              </a:ext>
            </a:extLst>
          </p:cNvPr>
          <p:cNvSpPr>
            <a:spLocks noGrp="1"/>
          </p:cNvSpPr>
          <p:nvPr/>
        </p:nvSpPr>
        <p:spPr>
          <a:xfrm>
            <a:off x="11239500" y="6419850"/>
            <a:ext cx="304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60786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07862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pic>
        <p:nvPicPr>
          <p:cNvPr id="17" name="Graphic 1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7945049" y="4149969"/>
            <a:ext cx="381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812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-21-marker">
            <a:extLst>
              <a:ext uri="{FF2B5EF4-FFF2-40B4-BE49-F238E27FC236}">
                <a16:creationId xmlns:a16="http://schemas.microsoft.com/office/drawing/2014/main" id="{12B3B3C8-B7CB-4FE8-AEAC-23226825D80A}"/>
              </a:ext>
            </a:extLst>
          </p:cNvPr>
          <p:cNvSpPr>
            <a:spLocks noGrp="1"/>
          </p:cNvSpPr>
          <p:nvPr/>
        </p:nvSpPr>
        <p:spPr>
          <a:xfrm>
            <a:off x="666750" y="533400"/>
            <a:ext cx="209550" cy="19050"/>
          </a:xfrm>
          <a:prstGeom prst="rect">
            <a:avLst/>
          </a:prstGeom>
          <a:solidFill>
            <a:srgbClr val="60786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21-label">
            <a:extLst>
              <a:ext uri="{FF2B5EF4-FFF2-40B4-BE49-F238E27FC236}">
                <a16:creationId xmlns:a16="http://schemas.microsoft.com/office/drawing/2014/main" id="{BB4AD52E-D159-4F1A-BE05-0B15C2829E3B}"/>
              </a:ext>
            </a:extLst>
          </p:cNvPr>
          <p:cNvSpPr>
            <a:spLocks noGrp="1"/>
          </p:cNvSpPr>
          <p:nvPr/>
        </p:nvSpPr>
        <p:spPr>
          <a:xfrm>
            <a:off x="990600" y="457200"/>
            <a:ext cx="2476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750" b="1">
                <a:solidFill>
                  <a:srgbClr val="60786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07862"/>
                </a:solidFill>
                <a:latin typeface="Aptos"/>
                <a:ea typeface="Aptos"/>
                <a:cs typeface="Aptos"/>
              </a:rPr>
              <a:t>INVESTMENT ASK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C654193-3332-45DD-AA18-64C4B20F459B}"/>
              </a:ext>
            </a:extLst>
          </p:cNvPr>
          <p:cNvSpPr>
            <a:spLocks noGrp="1"/>
          </p:cNvSpPr>
          <p:nvPr/>
        </p:nvSpPr>
        <p:spPr>
          <a:xfrm>
            <a:off x="666750" y="876300"/>
            <a:ext cx="68580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24322D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4322D"/>
                </a:solidFill>
                <a:latin typeface="Aptos Display"/>
                <a:ea typeface="Aptos Display"/>
                <a:cs typeface="Aptos Display"/>
              </a:rPr>
              <a:t>We are raising to prove comfort at scale.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2D877A3-04D1-4A92-BC3C-0D29E6D1316D}"/>
              </a:ext>
            </a:extLst>
          </p:cNvPr>
          <p:cNvSpPr>
            <a:spLocks noGrp="1"/>
          </p:cNvSpPr>
          <p:nvPr/>
        </p:nvSpPr>
        <p:spPr>
          <a:xfrm>
            <a:off x="672548" y="1625048"/>
            <a:ext cx="6306378" cy="1548019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1500" b="0">
                <a:solidFill>
                  <a:srgbClr val="52635A"/>
                </a:solidFill>
                <a:latin typeface="Aptos"/>
                <a:ea typeface="Aptos"/>
                <a:cs typeface="Aptos"/>
              </a:defRPr>
            </a:pPr>
            <a:r>
              <a:rPr lang="en-US" sz="2000"/>
              <a:t>Target Raise</a:t>
            </a:r>
          </a:p>
          <a:p>
            <a:pPr>
              <a:defRPr sz="1500" b="0">
                <a:solidFill>
                  <a:srgbClr val="52635A"/>
                </a:solidFill>
                <a:latin typeface="Aptos"/>
                <a:ea typeface="Aptos"/>
                <a:cs typeface="Aptos"/>
              </a:defRPr>
            </a:pPr>
            <a:r>
              <a:rPr lang="en-US" sz="4800" b="1"/>
              <a:t>₹2-3 Cr</a:t>
            </a:r>
          </a:p>
          <a:p>
            <a:pPr>
              <a:defRPr sz="1500" b="0">
                <a:solidFill>
                  <a:srgbClr val="52635A"/>
                </a:solidFill>
                <a:latin typeface="Aptos"/>
                <a:ea typeface="Aptos"/>
                <a:cs typeface="Aptos"/>
              </a:defRPr>
            </a:pPr>
            <a:r>
              <a:rPr lang="en-US" sz="2000" b="1">
                <a:solidFill>
                  <a:srgbClr val="52635A"/>
                </a:solidFill>
                <a:ea typeface="+mn-lt"/>
                <a:cs typeface="+mn-lt"/>
              </a:rPr>
              <a:t>Pre-seed</a:t>
            </a:r>
            <a:endParaRPr lang="en-US" sz="2000"/>
          </a:p>
          <a:p>
            <a:pPr algn="l">
              <a:defRPr sz="1500" b="0">
                <a:solidFill>
                  <a:srgbClr val="52635A"/>
                </a:solidFill>
                <a:latin typeface="Aptos"/>
                <a:ea typeface="Aptos"/>
                <a:cs typeface="Aptos"/>
              </a:defRPr>
            </a:pPr>
            <a:endParaRPr sz="2000" b="0" dirty="0">
              <a:solidFill>
                <a:srgbClr val="52635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4A21EA3-DE06-467C-9EC8-F1E8F6B82D31}"/>
              </a:ext>
            </a:extLst>
          </p:cNvPr>
          <p:cNvSpPr>
            <a:spLocks noGrp="1"/>
          </p:cNvSpPr>
          <p:nvPr/>
        </p:nvSpPr>
        <p:spPr>
          <a:xfrm>
            <a:off x="11544300" y="6419850"/>
            <a:ext cx="304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60786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07862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D3A0AB8-585F-56B5-9053-D394127CFF46}"/>
              </a:ext>
            </a:extLst>
          </p:cNvPr>
          <p:cNvSpPr/>
          <p:nvPr/>
        </p:nvSpPr>
        <p:spPr>
          <a:xfrm>
            <a:off x="213637" y="3463493"/>
            <a:ext cx="2734970" cy="2879862"/>
          </a:xfrm>
          <a:prstGeom prst="roundRect">
            <a:avLst/>
          </a:prstGeom>
          <a:solidFill>
            <a:schemeClr val="bg1"/>
          </a:solidFill>
          <a:ln>
            <a:solidFill>
              <a:srgbClr val="CFDC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>
                <a:solidFill>
                  <a:srgbClr val="607962"/>
                </a:solidFill>
              </a:rPr>
              <a:t>                    🍼 </a:t>
            </a:r>
            <a:endParaRPr lang="en-US"/>
          </a:p>
          <a:p>
            <a:r>
              <a:rPr lang="en-US" b="1" dirty="0">
                <a:solidFill>
                  <a:srgbClr val="607962"/>
                </a:solidFill>
              </a:rPr>
              <a:t>      </a:t>
            </a:r>
            <a:r>
              <a:rPr lang="en-US" sz="2000" b="1">
                <a:solidFill>
                  <a:srgbClr val="607962"/>
                </a:solidFill>
              </a:rPr>
              <a:t>Product Validation</a:t>
            </a:r>
            <a:endParaRPr lang="en-US" sz="2000"/>
          </a:p>
          <a:p>
            <a:r>
              <a:rPr lang="en-US" sz="2000" b="1">
                <a:solidFill>
                  <a:srgbClr val="607962"/>
                </a:solidFill>
              </a:rPr>
              <a:t>                 35%</a:t>
            </a:r>
          </a:p>
          <a:p>
            <a:endParaRPr lang="en-US" b="1" dirty="0">
              <a:solidFill>
                <a:srgbClr val="607962"/>
              </a:solidFill>
            </a:endParaRPr>
          </a:p>
          <a:p>
            <a:pPr marL="285750" indent="-285750">
              <a:buFont typeface="Calibri"/>
              <a:buChar char="-"/>
            </a:pPr>
            <a:r>
              <a:rPr lang="en-US">
                <a:solidFill>
                  <a:srgbClr val="607962"/>
                </a:solidFill>
              </a:rPr>
              <a:t>Prototype iterations</a:t>
            </a:r>
          </a:p>
          <a:p>
            <a:pPr marL="285750" indent="-285750">
              <a:buFont typeface="Calibri"/>
              <a:buChar char="-"/>
            </a:pPr>
            <a:r>
              <a:rPr lang="en-US">
                <a:solidFill>
                  <a:srgbClr val="607962"/>
                </a:solidFill>
              </a:rPr>
              <a:t>Dermatology testing</a:t>
            </a:r>
          </a:p>
          <a:p>
            <a:pPr marL="285750" indent="-285750">
              <a:buFont typeface="Calibri"/>
              <a:buChar char="-"/>
            </a:pPr>
            <a:r>
              <a:rPr lang="en-US">
                <a:solidFill>
                  <a:srgbClr val="607962"/>
                </a:solidFill>
              </a:rPr>
              <a:t>Comfort studies</a:t>
            </a:r>
          </a:p>
          <a:p>
            <a:pPr marL="285750" indent="-285750">
              <a:buFont typeface="Calibri"/>
              <a:buChar char="-"/>
            </a:pPr>
            <a:r>
              <a:rPr lang="en-US">
                <a:solidFill>
                  <a:srgbClr val="607962"/>
                </a:solidFill>
              </a:rPr>
              <a:t>Parent feedback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EB98084-9CC7-ADEF-9BEB-62AC2BE69962}"/>
              </a:ext>
            </a:extLst>
          </p:cNvPr>
          <p:cNvSpPr/>
          <p:nvPr/>
        </p:nvSpPr>
        <p:spPr>
          <a:xfrm>
            <a:off x="3248384" y="3463492"/>
            <a:ext cx="2734970" cy="2879862"/>
          </a:xfrm>
          <a:prstGeom prst="roundRect">
            <a:avLst/>
          </a:prstGeom>
          <a:solidFill>
            <a:schemeClr val="bg1"/>
          </a:solidFill>
          <a:ln>
            <a:solidFill>
              <a:srgbClr val="CFDC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b="1" dirty="0">
                <a:solidFill>
                  <a:srgbClr val="607962"/>
                </a:solidFill>
              </a:rPr>
              <a:t>                    </a:t>
            </a:r>
            <a:r>
              <a:rPr lang="en-US" dirty="0"/>
              <a:t>🏭 </a:t>
            </a:r>
            <a:r>
              <a:rPr lang="en-US" sz="2000" dirty="0">
                <a:solidFill>
                  <a:srgbClr val="607962"/>
                </a:solidFill>
              </a:rPr>
              <a:t>  </a:t>
            </a:r>
            <a:endParaRPr lang="en-US" dirty="0"/>
          </a:p>
          <a:p>
            <a:r>
              <a:rPr lang="en-US" sz="2000">
                <a:solidFill>
                  <a:srgbClr val="607962"/>
                </a:solidFill>
              </a:rPr>
              <a:t>        Manufacturing</a:t>
            </a:r>
            <a:endParaRPr lang="en-US">
              <a:solidFill>
                <a:srgbClr val="FFFFFF"/>
              </a:solidFill>
            </a:endParaRPr>
          </a:p>
          <a:p>
            <a:r>
              <a:rPr lang="en-US" b="1">
                <a:solidFill>
                  <a:srgbClr val="607962"/>
                </a:solidFill>
              </a:rPr>
              <a:t>                   30</a:t>
            </a:r>
            <a:r>
              <a:rPr lang="en-US" b="1" dirty="0">
                <a:solidFill>
                  <a:srgbClr val="607962"/>
                </a:solidFill>
                <a:ea typeface="+mn-lt"/>
                <a:cs typeface="+mn-lt"/>
              </a:rPr>
              <a:t>%</a:t>
            </a:r>
            <a:endParaRPr lang="en-US">
              <a:ea typeface="+mn-lt"/>
              <a:cs typeface="+mn-lt"/>
            </a:endParaRPr>
          </a:p>
          <a:p>
            <a:endParaRPr lang="en-US" b="1" dirty="0">
              <a:solidFill>
                <a:srgbClr val="607962"/>
              </a:solidFill>
              <a:ea typeface="+mn-lt"/>
              <a:cs typeface="+mn-lt"/>
            </a:endParaRPr>
          </a:p>
          <a:p>
            <a:pPr marL="285750" indent="-285750">
              <a:buFont typeface="Calibri"/>
              <a:buChar char="-"/>
            </a:pPr>
            <a:r>
              <a:rPr lang="en-US">
                <a:solidFill>
                  <a:srgbClr val="607962"/>
                </a:solidFill>
                <a:ea typeface="+mn-lt"/>
                <a:cs typeface="+mn-lt"/>
              </a:rPr>
              <a:t>Supplier partnerships</a:t>
            </a:r>
            <a:endParaRPr lang="en-US"/>
          </a:p>
          <a:p>
            <a:pPr marL="285750" indent="-285750">
              <a:buFont typeface="Calibri"/>
              <a:buChar char="-"/>
            </a:pPr>
            <a:r>
              <a:rPr lang="en-US">
                <a:solidFill>
                  <a:srgbClr val="607962"/>
                </a:solidFill>
                <a:ea typeface="+mn-lt"/>
                <a:cs typeface="+mn-lt"/>
              </a:rPr>
              <a:t>Tooling</a:t>
            </a:r>
            <a:endParaRPr lang="en-US"/>
          </a:p>
          <a:p>
            <a:pPr marL="285750" indent="-285750">
              <a:buFont typeface="Calibri"/>
              <a:buChar char="-"/>
            </a:pPr>
            <a:r>
              <a:rPr lang="en-US">
                <a:solidFill>
                  <a:srgbClr val="607962"/>
                </a:solidFill>
                <a:ea typeface="+mn-lt"/>
                <a:cs typeface="+mn-lt"/>
              </a:rPr>
              <a:t>Initial inventory</a:t>
            </a:r>
            <a:endParaRPr lang="en-US"/>
          </a:p>
          <a:p>
            <a:pPr marL="285750" indent="-285750">
              <a:buFont typeface="Calibri"/>
              <a:buChar char="-"/>
            </a:pPr>
            <a:r>
              <a:rPr lang="en-US">
                <a:solidFill>
                  <a:srgbClr val="607962"/>
                </a:solidFill>
                <a:ea typeface="+mn-lt"/>
                <a:cs typeface="+mn-lt"/>
              </a:rPr>
              <a:t>Quality systems</a:t>
            </a:r>
            <a:endParaRPr lang="en-US"/>
          </a:p>
          <a:p>
            <a:endParaRPr lang="en-US" b="1" dirty="0">
              <a:solidFill>
                <a:srgbClr val="607962"/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8EE7E44-1F84-5E03-DB09-D849150760EA}"/>
              </a:ext>
            </a:extLst>
          </p:cNvPr>
          <p:cNvSpPr/>
          <p:nvPr/>
        </p:nvSpPr>
        <p:spPr>
          <a:xfrm>
            <a:off x="6276505" y="3463491"/>
            <a:ext cx="2734970" cy="2879862"/>
          </a:xfrm>
          <a:prstGeom prst="roundRect">
            <a:avLst/>
          </a:prstGeom>
          <a:solidFill>
            <a:schemeClr val="bg1"/>
          </a:solidFill>
          <a:ln>
            <a:solidFill>
              <a:srgbClr val="CFDC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dirty="0">
                <a:solidFill>
                  <a:srgbClr val="607962"/>
                </a:solidFill>
              </a:rPr>
              <a:t>               </a:t>
            </a:r>
            <a:endParaRPr lang="en-US" dirty="0"/>
          </a:p>
          <a:p>
            <a:r>
              <a:rPr lang="en-US">
                <a:solidFill>
                  <a:srgbClr val="607962"/>
                </a:solidFill>
              </a:rPr>
              <a:t>                    </a:t>
            </a:r>
            <a:r>
              <a:rPr lang="en-US" dirty="0"/>
              <a:t>📈</a:t>
            </a:r>
          </a:p>
          <a:p>
            <a:r>
              <a:rPr lang="en-US">
                <a:solidFill>
                  <a:srgbClr val="607962"/>
                </a:solidFill>
              </a:rPr>
              <a:t>          </a:t>
            </a:r>
            <a:r>
              <a:rPr lang="en-US" sz="2000" dirty="0">
                <a:solidFill>
                  <a:srgbClr val="607962"/>
                </a:solidFill>
              </a:rPr>
              <a:t> Go-To-Market</a:t>
            </a:r>
            <a:endParaRPr lang="en-US" sz="2000" dirty="0"/>
          </a:p>
          <a:p>
            <a:r>
              <a:rPr lang="en-US" b="1">
                <a:solidFill>
                  <a:srgbClr val="607962"/>
                </a:solidFill>
                <a:ea typeface="+mn-lt"/>
                <a:cs typeface="+mn-lt"/>
              </a:rPr>
              <a:t>                  25%</a:t>
            </a:r>
            <a:endParaRPr lang="en-US">
              <a:ea typeface="+mn-lt"/>
              <a:cs typeface="+mn-lt"/>
            </a:endParaRPr>
          </a:p>
          <a:p>
            <a:endParaRPr lang="en-US" b="1" dirty="0">
              <a:solidFill>
                <a:srgbClr val="607962"/>
              </a:solidFill>
              <a:ea typeface="+mn-lt"/>
              <a:cs typeface="+mn-lt"/>
            </a:endParaRPr>
          </a:p>
          <a:p>
            <a:pPr marL="285750" indent="-285750">
              <a:buFont typeface="Calibri"/>
              <a:buChar char="-"/>
            </a:pPr>
            <a:r>
              <a:rPr lang="en-US">
                <a:solidFill>
                  <a:srgbClr val="607962"/>
                </a:solidFill>
                <a:ea typeface="+mn-lt"/>
                <a:cs typeface="+mn-lt"/>
              </a:rPr>
              <a:t>Amazon launch</a:t>
            </a:r>
            <a:endParaRPr lang="en-US"/>
          </a:p>
          <a:p>
            <a:pPr marL="285750" indent="-285750">
              <a:buFont typeface="Calibri"/>
              <a:buChar char="-"/>
            </a:pPr>
            <a:r>
              <a:rPr lang="en-US">
                <a:solidFill>
                  <a:srgbClr val="607962"/>
                </a:solidFill>
                <a:ea typeface="+mn-lt"/>
                <a:cs typeface="+mn-lt"/>
              </a:rPr>
              <a:t>D2C website</a:t>
            </a:r>
            <a:endParaRPr lang="en-US"/>
          </a:p>
          <a:p>
            <a:pPr marL="285750" indent="-285750">
              <a:buFont typeface="Calibri"/>
              <a:buChar char="-"/>
            </a:pPr>
            <a:r>
              <a:rPr lang="en-US">
                <a:solidFill>
                  <a:srgbClr val="607962"/>
                </a:solidFill>
                <a:ea typeface="+mn-lt"/>
                <a:cs typeface="+mn-lt"/>
              </a:rPr>
              <a:t>Community building</a:t>
            </a:r>
            <a:endParaRPr lang="en-US"/>
          </a:p>
          <a:p>
            <a:pPr marL="285750" indent="-285750">
              <a:buFont typeface="Calibri"/>
              <a:buChar char="-"/>
            </a:pPr>
            <a:r>
              <a:rPr lang="en-US">
                <a:solidFill>
                  <a:srgbClr val="607962"/>
                </a:solidFill>
                <a:ea typeface="+mn-lt"/>
                <a:cs typeface="+mn-lt"/>
              </a:rPr>
              <a:t>Content and creator partnerships</a:t>
            </a:r>
            <a:endParaRPr lang="en-US"/>
          </a:p>
          <a:p>
            <a:endParaRPr lang="en-US" b="1" dirty="0">
              <a:solidFill>
                <a:srgbClr val="607962"/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5B9E8C4-4C37-8DE5-4176-15311D5DE3FB}"/>
              </a:ext>
            </a:extLst>
          </p:cNvPr>
          <p:cNvSpPr/>
          <p:nvPr/>
        </p:nvSpPr>
        <p:spPr>
          <a:xfrm>
            <a:off x="9244991" y="3463490"/>
            <a:ext cx="2734970" cy="2879862"/>
          </a:xfrm>
          <a:prstGeom prst="roundRect">
            <a:avLst/>
          </a:prstGeom>
          <a:solidFill>
            <a:schemeClr val="bg1"/>
          </a:solidFill>
          <a:ln>
            <a:solidFill>
              <a:srgbClr val="CFDC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/>
              <a:t>                   👥</a:t>
            </a:r>
            <a:r>
              <a:rPr lang="en-US" dirty="0">
                <a:solidFill>
                  <a:srgbClr val="607962"/>
                </a:solidFill>
              </a:rPr>
              <a:t> </a:t>
            </a:r>
            <a:endParaRPr lang="en-US" dirty="0"/>
          </a:p>
          <a:p>
            <a:r>
              <a:rPr lang="en-US" dirty="0">
                <a:solidFill>
                  <a:srgbClr val="607962"/>
                </a:solidFill>
              </a:rPr>
              <a:t>                 </a:t>
            </a:r>
            <a:r>
              <a:rPr lang="en-US" sz="2000">
                <a:solidFill>
                  <a:srgbClr val="607962"/>
                </a:solidFill>
              </a:rPr>
              <a:t>Team</a:t>
            </a:r>
            <a:endParaRPr lang="en-US" sz="2000"/>
          </a:p>
          <a:p>
            <a:r>
              <a:rPr lang="en-US" b="1">
                <a:solidFill>
                  <a:srgbClr val="607962"/>
                </a:solidFill>
                <a:ea typeface="+mn-lt"/>
                <a:cs typeface="+mn-lt"/>
              </a:rPr>
              <a:t>                  10%</a:t>
            </a:r>
            <a:endParaRPr lang="en-US">
              <a:ea typeface="+mn-lt"/>
              <a:cs typeface="+mn-lt"/>
            </a:endParaRPr>
          </a:p>
          <a:p>
            <a:endParaRPr lang="en-US" b="1" dirty="0">
              <a:solidFill>
                <a:srgbClr val="607962"/>
              </a:solidFill>
              <a:ea typeface="+mn-lt"/>
              <a:cs typeface="+mn-lt"/>
            </a:endParaRPr>
          </a:p>
          <a:p>
            <a:pPr marL="285750" indent="-285750">
              <a:buFont typeface="Calibri"/>
              <a:buChar char="-"/>
            </a:pPr>
            <a:r>
              <a:rPr lang="en-US">
                <a:solidFill>
                  <a:srgbClr val="607962"/>
                </a:solidFill>
                <a:ea typeface="+mn-lt"/>
                <a:cs typeface="+mn-lt"/>
              </a:rPr>
              <a:t>Operations</a:t>
            </a:r>
            <a:endParaRPr lang="en-US"/>
          </a:p>
          <a:p>
            <a:pPr marL="285750" indent="-285750">
              <a:buFont typeface="Calibri"/>
              <a:buChar char="-"/>
            </a:pPr>
            <a:r>
              <a:rPr lang="en-US">
                <a:solidFill>
                  <a:srgbClr val="607962"/>
                </a:solidFill>
                <a:ea typeface="+mn-lt"/>
                <a:cs typeface="+mn-lt"/>
              </a:rPr>
              <a:t>Customer experience</a:t>
            </a:r>
            <a:endParaRPr lang="en-US"/>
          </a:p>
          <a:p>
            <a:pPr marL="285750" indent="-285750">
              <a:buFont typeface="Calibri"/>
              <a:buChar char="-"/>
            </a:pPr>
            <a:r>
              <a:rPr lang="en-US">
                <a:solidFill>
                  <a:srgbClr val="607962"/>
                </a:solidFill>
                <a:ea typeface="+mn-lt"/>
                <a:cs typeface="+mn-lt"/>
              </a:rPr>
              <a:t>Technology and design</a:t>
            </a:r>
            <a:endParaRPr lang="en-US"/>
          </a:p>
          <a:p>
            <a:endParaRPr lang="en-US" b="1" dirty="0">
              <a:solidFill>
                <a:srgbClr val="60796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15859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2FFB2B1-A512-4937-9158-D6FB3DEFD0C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058FB75-E9A5-4F5A-86F6-DF7C0E19D0B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561975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21B3FA7-C81C-4E7F-87A6-D5082AFB7F0E}"/>
              </a:ext>
            </a:extLst>
          </p:cNvPr>
          <p:cNvSpPr>
            <a:spLocks noGrp="1"/>
          </p:cNvSpPr>
          <p:nvPr/>
        </p:nvSpPr>
        <p:spPr>
          <a:xfrm>
            <a:off x="800100" y="1543050"/>
            <a:ext cx="3048000" cy="762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400" b="1">
                <a:solidFill>
                  <a:srgbClr val="24322D"/>
                </a:solidFill>
                <a:latin typeface="Aptos Display"/>
                <a:ea typeface="Aptos Display"/>
                <a:cs typeface="Aptos Display"/>
              </a:defRPr>
            </a:pPr>
            <a:r>
              <a:rPr sz="5400" b="1">
                <a:solidFill>
                  <a:srgbClr val="24322D"/>
                </a:solidFill>
                <a:latin typeface="Aptos Display"/>
                <a:ea typeface="Aptos Display"/>
                <a:cs typeface="Aptos Display"/>
              </a:rPr>
              <a:t>Luvia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4AD6D7-2704-4DEB-B624-425FB196572D}"/>
              </a:ext>
            </a:extLst>
          </p:cNvPr>
          <p:cNvSpPr>
            <a:spLocks noGrp="1"/>
          </p:cNvSpPr>
          <p:nvPr/>
        </p:nvSpPr>
        <p:spPr>
          <a:xfrm>
            <a:off x="838200" y="2457450"/>
            <a:ext cx="723900" cy="19050"/>
          </a:xfrm>
          <a:prstGeom prst="rect">
            <a:avLst/>
          </a:prstGeom>
          <a:solidFill>
            <a:srgbClr val="60786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D66EEC-A676-4B7C-973F-4E35643C38AF}"/>
              </a:ext>
            </a:extLst>
          </p:cNvPr>
          <p:cNvSpPr>
            <a:spLocks noGrp="1"/>
          </p:cNvSpPr>
          <p:nvPr/>
        </p:nvSpPr>
        <p:spPr>
          <a:xfrm>
            <a:off x="819150" y="2800350"/>
            <a:ext cx="409575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0">
                <a:solidFill>
                  <a:srgbClr val="52635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0">
                <a:solidFill>
                  <a:srgbClr val="52635A"/>
                </a:solidFill>
                <a:latin typeface="Aptos Display"/>
                <a:ea typeface="Aptos Display"/>
                <a:cs typeface="Aptos Display"/>
              </a:rPr>
              <a:t>Comfort you trust.</a:t>
            </a:r>
          </a:p>
          <a:p>
            <a:pPr algn="l">
              <a:defRPr sz="2550" b="0">
                <a:solidFill>
                  <a:srgbClr val="52635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0">
                <a:solidFill>
                  <a:srgbClr val="52635A"/>
                </a:solidFill>
                <a:latin typeface="Aptos Display"/>
                <a:ea typeface="Aptos Display"/>
                <a:cs typeface="Aptos Display"/>
              </a:rPr>
              <a:t>Care they deserve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4B1473-E595-40FF-97F3-3C6B5DA46EDF}"/>
              </a:ext>
            </a:extLst>
          </p:cNvPr>
          <p:cNvSpPr>
            <a:spLocks noGrp="1"/>
          </p:cNvSpPr>
          <p:nvPr/>
        </p:nvSpPr>
        <p:spPr>
          <a:xfrm>
            <a:off x="838200" y="5010150"/>
            <a:ext cx="3429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607862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607862"/>
                </a:solidFill>
                <a:latin typeface="Aptos Display"/>
                <a:ea typeface="Aptos Display"/>
                <a:cs typeface="Aptos Display"/>
              </a:rPr>
              <a:t>A gentle product system for the earliest days of care.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BF78A06-3B57-4788-96D5-E22A317AD683}"/>
              </a:ext>
            </a:extLst>
          </p:cNvPr>
          <p:cNvSpPr>
            <a:spLocks noGrp="1"/>
          </p:cNvSpPr>
          <p:nvPr/>
        </p:nvSpPr>
        <p:spPr>
          <a:xfrm>
            <a:off x="11239500" y="6419850"/>
            <a:ext cx="304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60786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07862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203956259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DocSecurity>0</DocSecurity>
  <PresentationFormat>Widescreen</PresentationFormat>
  <Slides>17</Slides>
  <Notes>17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Walnut Exporter</cp:lastModifiedBy>
  <cp:revision>798</cp:revision>
  <dcterms:created xsi:type="dcterms:W3CDTF">2026-06-12T11:02:29Z</dcterms:created>
  <dcterms:modified xsi:type="dcterms:W3CDTF">2026-06-16T18:38:23Z</dcterms:modified>
</cp:coreProperties>
</file>